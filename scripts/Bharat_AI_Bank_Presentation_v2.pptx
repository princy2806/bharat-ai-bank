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05D24B-F508-42EB-90AA-BF0BB00502DA}">
  <a:tblStyle styleId="{5605D24B-F508-42EB-90AA-BF0BB00502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Roboto-bold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Roboto-bold.fntdata"/><Relationship Id="rId6" Type="http://schemas.openxmlformats.org/officeDocument/2006/relationships/notesMaster" Target="notesMasters/notesMaster1.xml"/><Relationship Id="rId18"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1"/>
              </a:buClr>
              <a:buSzPts val="1200"/>
              <a:buChar char="●"/>
              <a:defRPr sz="1200">
                <a:solidFill>
                  <a:schemeClr val="lt1"/>
                </a:solidFill>
              </a:defRPr>
            </a:lvl1pPr>
            <a:lvl2pPr indent="-304800" lvl="1" marL="914400" rtl="0">
              <a:spcBef>
                <a:spcPts val="1600"/>
              </a:spcBef>
              <a:spcAft>
                <a:spcPts val="0"/>
              </a:spcAft>
              <a:buClr>
                <a:schemeClr val="lt1"/>
              </a:buClr>
              <a:buSzPts val="1200"/>
              <a:buChar char="○"/>
              <a:defRPr sz="1200">
                <a:solidFill>
                  <a:schemeClr val="lt1"/>
                </a:solidFill>
              </a:defRPr>
            </a:lvl2pPr>
            <a:lvl3pPr indent="-304800" lvl="2" marL="1371600" rtl="0">
              <a:spcBef>
                <a:spcPts val="1600"/>
              </a:spcBef>
              <a:spcAft>
                <a:spcPts val="0"/>
              </a:spcAft>
              <a:buClr>
                <a:schemeClr val="lt1"/>
              </a:buClr>
              <a:buSzPts val="1200"/>
              <a:buChar char="■"/>
              <a:defRPr sz="1200">
                <a:solidFill>
                  <a:schemeClr val="lt1"/>
                </a:solidFill>
              </a:defRPr>
            </a:lvl3pPr>
            <a:lvl4pPr indent="-304800" lvl="3" marL="1828800" rtl="0">
              <a:spcBef>
                <a:spcPts val="1600"/>
              </a:spcBef>
              <a:spcAft>
                <a:spcPts val="0"/>
              </a:spcAft>
              <a:buClr>
                <a:schemeClr val="lt1"/>
              </a:buClr>
              <a:buSzPts val="1200"/>
              <a:buChar char="●"/>
              <a:defRPr sz="1200">
                <a:solidFill>
                  <a:schemeClr val="lt1"/>
                </a:solidFill>
              </a:defRPr>
            </a:lvl4pPr>
            <a:lvl5pPr indent="-304800" lvl="4" marL="2286000" rtl="0">
              <a:spcBef>
                <a:spcPts val="1600"/>
              </a:spcBef>
              <a:spcAft>
                <a:spcPts val="0"/>
              </a:spcAft>
              <a:buClr>
                <a:schemeClr val="lt1"/>
              </a:buClr>
              <a:buSzPts val="1200"/>
              <a:buChar char="○"/>
              <a:defRPr sz="1200">
                <a:solidFill>
                  <a:schemeClr val="lt1"/>
                </a:solidFill>
              </a:defRPr>
            </a:lvl5pPr>
            <a:lvl6pPr indent="-304800" lvl="5" marL="2743200" rtl="0">
              <a:spcBef>
                <a:spcPts val="1600"/>
              </a:spcBef>
              <a:spcAft>
                <a:spcPts val="0"/>
              </a:spcAft>
              <a:buClr>
                <a:schemeClr val="lt1"/>
              </a:buClr>
              <a:buSzPts val="1200"/>
              <a:buChar char="■"/>
              <a:defRPr sz="1200">
                <a:solidFill>
                  <a:schemeClr val="lt1"/>
                </a:solidFill>
              </a:defRPr>
            </a:lvl6pPr>
            <a:lvl7pPr indent="-304800" lvl="6" marL="3200400" rtl="0">
              <a:spcBef>
                <a:spcPts val="1600"/>
              </a:spcBef>
              <a:spcAft>
                <a:spcPts val="0"/>
              </a:spcAft>
              <a:buClr>
                <a:schemeClr val="lt1"/>
              </a:buClr>
              <a:buSzPts val="1200"/>
              <a:buChar char="●"/>
              <a:defRPr sz="1200">
                <a:solidFill>
                  <a:schemeClr val="lt1"/>
                </a:solidFill>
              </a:defRPr>
            </a:lvl7pPr>
            <a:lvl8pPr indent="-304800" lvl="7" marL="3657600" rtl="0">
              <a:spcBef>
                <a:spcPts val="1600"/>
              </a:spcBef>
              <a:spcAft>
                <a:spcPts val="0"/>
              </a:spcAft>
              <a:buClr>
                <a:schemeClr val="lt1"/>
              </a:buClr>
              <a:buSzPts val="1200"/>
              <a:buChar char="○"/>
              <a:defRPr sz="1200">
                <a:solidFill>
                  <a:schemeClr val="lt1"/>
                </a:solidFill>
              </a:defRPr>
            </a:lvl8pPr>
            <a:lvl9pPr indent="-304800" lvl="8" marL="4114800" rtl="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4200"/>
              <a:buNone/>
              <a:defRPr sz="4200">
                <a:solidFill>
                  <a:schemeClr val="dk2"/>
                </a:solidFill>
              </a:defRPr>
            </a:lvl1pPr>
            <a:lvl2pPr lvl="1" rtl="0" algn="ctr">
              <a:spcBef>
                <a:spcPts val="0"/>
              </a:spcBef>
              <a:spcAft>
                <a:spcPts val="0"/>
              </a:spcAft>
              <a:buClr>
                <a:schemeClr val="dk2"/>
              </a:buClr>
              <a:buSzPts val="4200"/>
              <a:buNone/>
              <a:defRPr sz="4200">
                <a:solidFill>
                  <a:schemeClr val="dk2"/>
                </a:solidFill>
              </a:defRPr>
            </a:lvl2pPr>
            <a:lvl3pPr lvl="2" rtl="0" algn="ctr">
              <a:spcBef>
                <a:spcPts val="0"/>
              </a:spcBef>
              <a:spcAft>
                <a:spcPts val="0"/>
              </a:spcAft>
              <a:buClr>
                <a:schemeClr val="dk2"/>
              </a:buClr>
              <a:buSzPts val="4200"/>
              <a:buNone/>
              <a:defRPr sz="4200">
                <a:solidFill>
                  <a:schemeClr val="dk2"/>
                </a:solidFill>
              </a:defRPr>
            </a:lvl3pPr>
            <a:lvl4pPr lvl="3" rtl="0" algn="ctr">
              <a:spcBef>
                <a:spcPts val="0"/>
              </a:spcBef>
              <a:spcAft>
                <a:spcPts val="0"/>
              </a:spcAft>
              <a:buClr>
                <a:schemeClr val="dk2"/>
              </a:buClr>
              <a:buSzPts val="4200"/>
              <a:buNone/>
              <a:defRPr sz="4200">
                <a:solidFill>
                  <a:schemeClr val="dk2"/>
                </a:solidFill>
              </a:defRPr>
            </a:lvl4pPr>
            <a:lvl5pPr lvl="4" rtl="0" algn="ctr">
              <a:spcBef>
                <a:spcPts val="0"/>
              </a:spcBef>
              <a:spcAft>
                <a:spcPts val="0"/>
              </a:spcAft>
              <a:buClr>
                <a:schemeClr val="dk2"/>
              </a:buClr>
              <a:buSzPts val="4200"/>
              <a:buNone/>
              <a:defRPr sz="4200">
                <a:solidFill>
                  <a:schemeClr val="dk2"/>
                </a:solidFill>
              </a:defRPr>
            </a:lvl5pPr>
            <a:lvl6pPr lvl="5" rtl="0" algn="ctr">
              <a:spcBef>
                <a:spcPts val="0"/>
              </a:spcBef>
              <a:spcAft>
                <a:spcPts val="0"/>
              </a:spcAft>
              <a:buClr>
                <a:schemeClr val="dk2"/>
              </a:buClr>
              <a:buSzPts val="4200"/>
              <a:buNone/>
              <a:defRPr sz="4200">
                <a:solidFill>
                  <a:schemeClr val="dk2"/>
                </a:solidFill>
              </a:defRPr>
            </a:lvl6pPr>
            <a:lvl7pPr lvl="6" rtl="0" algn="ctr">
              <a:spcBef>
                <a:spcPts val="0"/>
              </a:spcBef>
              <a:spcAft>
                <a:spcPts val="0"/>
              </a:spcAft>
              <a:buClr>
                <a:schemeClr val="dk2"/>
              </a:buClr>
              <a:buSzPts val="4200"/>
              <a:buNone/>
              <a:defRPr sz="4200">
                <a:solidFill>
                  <a:schemeClr val="dk2"/>
                </a:solidFill>
              </a:defRPr>
            </a:lvl7pPr>
            <a:lvl8pPr lvl="7" rtl="0" algn="ctr">
              <a:spcBef>
                <a:spcPts val="0"/>
              </a:spcBef>
              <a:spcAft>
                <a:spcPts val="0"/>
              </a:spcAft>
              <a:buClr>
                <a:schemeClr val="dk2"/>
              </a:buClr>
              <a:buSzPts val="4200"/>
              <a:buNone/>
              <a:defRPr sz="4200">
                <a:solidFill>
                  <a:schemeClr val="dk2"/>
                </a:solidFill>
              </a:defRPr>
            </a:lvl8pPr>
            <a:lvl9pPr lvl="8" rtl="0"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2"/>
              </a:buClr>
              <a:buSzPts val="12000"/>
              <a:buNone/>
              <a:defRPr sz="12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lt2"/>
                </a:solidFill>
                <a:latin typeface="Roboto"/>
                <a:ea typeface="Roboto"/>
                <a:cs typeface="Roboto"/>
                <a:sym typeface="Roboto"/>
              </a:defRPr>
            </a:lvl1pPr>
            <a:lvl2pPr lvl="1" rtl="0" algn="r">
              <a:buNone/>
              <a:defRPr sz="1000">
                <a:solidFill>
                  <a:schemeClr val="lt2"/>
                </a:solidFill>
                <a:latin typeface="Roboto"/>
                <a:ea typeface="Roboto"/>
                <a:cs typeface="Roboto"/>
                <a:sym typeface="Roboto"/>
              </a:defRPr>
            </a:lvl2pPr>
            <a:lvl3pPr lvl="2" rtl="0" algn="r">
              <a:buNone/>
              <a:defRPr sz="1000">
                <a:solidFill>
                  <a:schemeClr val="lt2"/>
                </a:solidFill>
                <a:latin typeface="Roboto"/>
                <a:ea typeface="Roboto"/>
                <a:cs typeface="Roboto"/>
                <a:sym typeface="Roboto"/>
              </a:defRPr>
            </a:lvl3pPr>
            <a:lvl4pPr lvl="3" rtl="0" algn="r">
              <a:buNone/>
              <a:defRPr sz="1000">
                <a:solidFill>
                  <a:schemeClr val="lt2"/>
                </a:solidFill>
                <a:latin typeface="Roboto"/>
                <a:ea typeface="Roboto"/>
                <a:cs typeface="Roboto"/>
                <a:sym typeface="Roboto"/>
              </a:defRPr>
            </a:lvl4pPr>
            <a:lvl5pPr lvl="4" rtl="0" algn="r">
              <a:buNone/>
              <a:defRPr sz="1000">
                <a:solidFill>
                  <a:schemeClr val="lt2"/>
                </a:solidFill>
                <a:latin typeface="Roboto"/>
                <a:ea typeface="Roboto"/>
                <a:cs typeface="Roboto"/>
                <a:sym typeface="Roboto"/>
              </a:defRPr>
            </a:lvl5pPr>
            <a:lvl6pPr lvl="5" rtl="0" algn="r">
              <a:buNone/>
              <a:defRPr sz="1000">
                <a:solidFill>
                  <a:schemeClr val="lt2"/>
                </a:solidFill>
                <a:latin typeface="Roboto"/>
                <a:ea typeface="Roboto"/>
                <a:cs typeface="Roboto"/>
                <a:sym typeface="Roboto"/>
              </a:defRPr>
            </a:lvl6pPr>
            <a:lvl7pPr lvl="6" rtl="0" algn="r">
              <a:buNone/>
              <a:defRPr sz="1000">
                <a:solidFill>
                  <a:schemeClr val="lt2"/>
                </a:solidFill>
                <a:latin typeface="Roboto"/>
                <a:ea typeface="Roboto"/>
                <a:cs typeface="Roboto"/>
                <a:sym typeface="Roboto"/>
              </a:defRPr>
            </a:lvl7pPr>
            <a:lvl8pPr lvl="7" rtl="0" algn="r">
              <a:buNone/>
              <a:defRPr sz="1000">
                <a:solidFill>
                  <a:schemeClr val="lt2"/>
                </a:solidFill>
                <a:latin typeface="Roboto"/>
                <a:ea typeface="Roboto"/>
                <a:cs typeface="Roboto"/>
                <a:sym typeface="Roboto"/>
              </a:defRPr>
            </a:lvl8pPr>
            <a:lvl9pPr lvl="8" rtl="0"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Rect10"/>
          <p:cNvSpPr/>
          <p:nvPr/>
        </p:nvSpPr>
        <p:spPr>
          <a:xfrm>
            <a:off x="0" y="0"/>
            <a:ext cx="9144000" cy="109728"/>
          </a:xfrm>
          <a:prstGeom prst="rect">
            <a:avLst/>
          </a:prstGeom>
          <a:solidFill>
            <a:srgbClr val="F4B400"/>
          </a:solidFill>
          <a:ln>
            <a:noFill/>
          </a:ln>
        </p:spPr>
        <p:txBody>
          <a:bodyPr/>
          <a:lstStyle/>
          <a:p/>
        </p:txBody>
      </p:sp>
      <p:sp>
        <p:nvSpPr>
          <p:cNvPr id="11" name="Shape11"/>
          <p:cNvSpPr txBox="1"/>
          <p:nvPr/>
        </p:nvSpPr>
        <p:spPr>
          <a:xfrm>
            <a:off x="457200" y="1371600"/>
            <a:ext cx="8321040" cy="10972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5400" b="1">
                <a:solidFill>
                  <a:schemeClr val="lt1"/>
                </a:solidFill>
                <a:latin typeface="Roboto"/>
                <a:ea typeface="Roboto"/>
              </a:rPr>
              <a:t>Bharat AI Bank</a:t>
            </a:r>
            <a:endParaRPr/>
          </a:p>
        </p:txBody>
      </p:sp>
      <p:sp>
        <p:nvSpPr>
          <p:cNvPr id="12" name="Shape12"/>
          <p:cNvSpPr txBox="1"/>
          <p:nvPr/>
        </p:nvSpPr>
        <p:spPr>
          <a:xfrm>
            <a:off x="457200" y="2606040"/>
            <a:ext cx="8321040" cy="640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chemeClr val="lt1"/>
                </a:solidFill>
                <a:latin typeface="Roboto"/>
                <a:ea typeface="Roboto"/>
              </a:rPr>
              <a:t>Intelligent Banking with Agentforce AI</a:t>
            </a:r>
            <a:endParaRPr/>
          </a:p>
        </p:txBody>
      </p:sp>
      <p:sp>
        <p:nvSpPr>
          <p:cNvPr id="13" name="Rect13"/>
          <p:cNvSpPr/>
          <p:nvPr/>
        </p:nvSpPr>
        <p:spPr>
          <a:xfrm>
            <a:off x="3657600" y="3383280"/>
            <a:ext cx="1965960" cy="36576"/>
          </a:xfrm>
          <a:prstGeom prst="rect">
            <a:avLst/>
          </a:prstGeom>
          <a:solidFill>
            <a:srgbClr val="F4B400"/>
          </a:solidFill>
          <a:ln>
            <a:noFill/>
          </a:ln>
        </p:spPr>
        <p:txBody>
          <a:bodyPr/>
          <a:lstStyle/>
          <a:p/>
        </p:txBody>
      </p:sp>
      <p:sp>
        <p:nvSpPr>
          <p:cNvPr id="14" name="Shape14"/>
          <p:cNvSpPr txBox="1"/>
          <p:nvPr/>
        </p:nvSpPr>
        <p:spPr>
          <a:xfrm>
            <a:off x="457200" y="3566160"/>
            <a:ext cx="832104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B0BEC5"/>
                </a:solidFill>
                <a:latin typeface="Roboto"/>
                <a:ea typeface="Roboto"/>
              </a:rPr>
              <a:t>Team: AgentX Innovators  |  Accenture  |  2025</a:t>
            </a:r>
            <a:endParaRPr/>
          </a:p>
        </p:txBody>
      </p:sp>
      <p:sp>
        <p:nvSpPr>
          <p:cNvPr id="15" name="Shape15"/>
          <p:cNvSpPr txBox="1"/>
          <p:nvPr/>
        </p:nvSpPr>
        <p:spPr>
          <a:xfrm>
            <a:off x="5943600" y="4114800"/>
            <a:ext cx="2743200" cy="457200"/>
          </a:xfrm>
          <a:prstGeom prst="rect">
            <a:avLst/>
          </a:prstGeom>
          <a:noFill/>
          <a:ln>
            <a:noFill/>
          </a:ln>
        </p:spPr>
        <p:txBody>
          <a:bodyPr anchorCtr="0" anchor="r" bIns="91425" lIns="91425" spcFirstLastPara="1" rIns="91425" wrap="square" tIns="91425">
            <a:noAutofit/>
          </a:bodyPr>
          <a:lstStyle/>
          <a:p>
            <a:pPr indent="0" lvl="0" marL="0" rtl="0" algn="l">
              <a:spcBef>
                <a:spcPts val="0"/>
              </a:spcBef>
              <a:spcAft>
                <a:spcPts val="0"/>
              </a:spcAft>
              <a:buNone/>
            </a:pPr>
            <a:r>
              <a:rPr lang="en" sz="1400">
                <a:solidFill>
                  <a:srgbClr val="F4B400"/>
                </a:solidFill>
                <a:latin typeface="Roboto"/>
                <a:ea typeface="Roboto"/>
              </a:rPr>
              <a:t>Salesforce Agentforce Hackathon 2025</a:t>
            </a:r>
            <a:endParaRPr/>
          </a:p>
        </p:txBody>
      </p:sp>
      <p:sp>
        <p:nvSpPr>
          <p:cNvPr id="900" name="Rect900"/>
          <p:cNvSpPr/>
          <p:nvPr/>
        </p:nvSpPr>
        <p:spPr>
          <a:xfrm>
            <a:off x="0" y="5070348"/>
            <a:ext cx="9144000" cy="73152"/>
          </a:xfrm>
          <a:prstGeom prst="rect">
            <a:avLst/>
          </a:prstGeom>
          <a:solidFill>
            <a:srgbClr val="F4B400"/>
          </a:solidFill>
          <a:ln>
            <a:noFill/>
          </a:ln>
        </p:spPr>
        <p:txBody>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4864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Meet the Team</a:t>
            </a:r>
            <a:endParaRPr/>
          </a:p>
        </p:txBody>
      </p:sp>
      <p:sp>
        <p:nvSpPr>
          <p:cNvPr id="11" name="Rect11"/>
          <p:cNvSpPr/>
          <p:nvPr/>
        </p:nvSpPr>
        <p:spPr>
          <a:xfrm>
            <a:off x="457200" y="960120"/>
            <a:ext cx="7452360" cy="36576"/>
          </a:xfrm>
          <a:prstGeom prst="rect">
            <a:avLst/>
          </a:prstGeom>
          <a:solidFill>
            <a:srgbClr val="F4B400"/>
          </a:solidFill>
          <a:ln>
            <a:noFill/>
          </a:ln>
        </p:spPr>
        <p:txBody>
          <a:bodyPr/>
          <a:lstStyle/>
          <a:p/>
        </p:txBody>
      </p:sp>
      <p:sp>
        <p:nvSpPr>
          <p:cNvPr id="20" name="Rect20"/>
          <p:cNvSpPr/>
          <p:nvPr/>
        </p:nvSpPr>
        <p:spPr>
          <a:xfrm>
            <a:off x="320040" y="1234440"/>
            <a:ext cx="1874519" cy="2560320"/>
          </a:xfrm>
          <a:prstGeom prst="rect">
            <a:avLst/>
          </a:prstGeom>
          <a:solidFill>
            <a:srgbClr val="1976D2"/>
          </a:solidFill>
          <a:ln>
            <a:noFill/>
          </a:ln>
        </p:spPr>
        <p:txBody>
          <a:bodyPr/>
          <a:lstStyle/>
          <a:p/>
        </p:txBody>
      </p:sp>
      <p:sp>
        <p:nvSpPr>
          <p:cNvPr id="30" name="Rect30"/>
          <p:cNvSpPr/>
          <p:nvPr/>
        </p:nvSpPr>
        <p:spPr>
          <a:xfrm>
            <a:off x="320040" y="1234440"/>
            <a:ext cx="1874519" cy="73152"/>
          </a:xfrm>
          <a:prstGeom prst="rect">
            <a:avLst/>
          </a:prstGeom>
          <a:solidFill>
            <a:srgbClr val="0F9D58"/>
          </a:solidFill>
          <a:ln>
            <a:noFill/>
          </a:ln>
        </p:spPr>
        <p:txBody>
          <a:bodyPr/>
          <a:lstStyle/>
          <a:p/>
        </p:txBody>
      </p:sp>
      <p:sp>
        <p:nvSpPr>
          <p:cNvPr id="40" name="Shape40"/>
          <p:cNvSpPr txBox="1"/>
          <p:nvPr/>
        </p:nvSpPr>
        <p:spPr>
          <a:xfrm>
            <a:off x="429768" y="1371600"/>
            <a:ext cx="1691639"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Princy Shah</a:t>
            </a:r>
            <a:endParaRPr/>
          </a:p>
        </p:txBody>
      </p:sp>
      <p:sp>
        <p:nvSpPr>
          <p:cNvPr id="50" name="Shape50"/>
          <p:cNvSpPr txBox="1"/>
          <p:nvPr/>
        </p:nvSpPr>
        <p:spPr>
          <a:xfrm>
            <a:off x="429768" y="1920240"/>
            <a:ext cx="1691639"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4FC3F7"/>
                </a:solidFill>
                <a:latin typeface="Roboto"/>
                <a:ea typeface="Roboto"/>
              </a:rPr>
              <a:t>Salesforce Tech Lead</a:t>
            </a:r>
            <a:endParaRPr/>
          </a:p>
        </p:txBody>
      </p:sp>
      <p:sp>
        <p:nvSpPr>
          <p:cNvPr id="60" name="Shape60"/>
          <p:cNvSpPr txBox="1"/>
          <p:nvPr/>
        </p:nvSpPr>
        <p:spPr>
          <a:xfrm>
            <a:off x="429768" y="2377440"/>
            <a:ext cx="1691639" cy="3657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latin typeface="Roboto"/>
                <a:ea typeface="Roboto"/>
              </a:rPr>
              <a:t>Accenture</a:t>
            </a:r>
            <a:endParaRPr/>
          </a:p>
        </p:txBody>
      </p:sp>
      <p:sp>
        <p:nvSpPr>
          <p:cNvPr id="21" name="Rect21"/>
          <p:cNvSpPr/>
          <p:nvPr/>
        </p:nvSpPr>
        <p:spPr>
          <a:xfrm>
            <a:off x="2331720" y="1234440"/>
            <a:ext cx="1874519" cy="2560320"/>
          </a:xfrm>
          <a:prstGeom prst="rect">
            <a:avLst/>
          </a:prstGeom>
          <a:solidFill>
            <a:srgbClr val="1976D2"/>
          </a:solidFill>
          <a:ln>
            <a:noFill/>
          </a:ln>
        </p:spPr>
        <p:txBody>
          <a:bodyPr/>
          <a:lstStyle/>
          <a:p/>
        </p:txBody>
      </p:sp>
      <p:sp>
        <p:nvSpPr>
          <p:cNvPr id="31" name="Rect31"/>
          <p:cNvSpPr/>
          <p:nvPr/>
        </p:nvSpPr>
        <p:spPr>
          <a:xfrm>
            <a:off x="2331720" y="1234440"/>
            <a:ext cx="1874519" cy="73152"/>
          </a:xfrm>
          <a:prstGeom prst="rect">
            <a:avLst/>
          </a:prstGeom>
          <a:solidFill>
            <a:srgbClr val="4285F4"/>
          </a:solidFill>
          <a:ln>
            <a:noFill/>
          </a:ln>
        </p:spPr>
        <p:txBody>
          <a:bodyPr/>
          <a:lstStyle/>
          <a:p/>
        </p:txBody>
      </p:sp>
      <p:sp>
        <p:nvSpPr>
          <p:cNvPr id="41" name="Shape41"/>
          <p:cNvSpPr txBox="1"/>
          <p:nvPr/>
        </p:nvSpPr>
        <p:spPr>
          <a:xfrm>
            <a:off x="2441448" y="1371600"/>
            <a:ext cx="1691639"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Shraddha Dere</a:t>
            </a:r>
            <a:endParaRPr/>
          </a:p>
        </p:txBody>
      </p:sp>
      <p:sp>
        <p:nvSpPr>
          <p:cNvPr id="51" name="Shape51"/>
          <p:cNvSpPr txBox="1"/>
          <p:nvPr/>
        </p:nvSpPr>
        <p:spPr>
          <a:xfrm>
            <a:off x="2441448" y="1920240"/>
            <a:ext cx="1691639"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4FC3F7"/>
                </a:solidFill>
                <a:latin typeface="Roboto"/>
                <a:ea typeface="Roboto"/>
              </a:rPr>
              <a:t>Salesforce Tech Lead</a:t>
            </a:r>
            <a:endParaRPr/>
          </a:p>
        </p:txBody>
      </p:sp>
      <p:sp>
        <p:nvSpPr>
          <p:cNvPr id="61" name="Shape61"/>
          <p:cNvSpPr txBox="1"/>
          <p:nvPr/>
        </p:nvSpPr>
        <p:spPr>
          <a:xfrm>
            <a:off x="2441448" y="2377440"/>
            <a:ext cx="1691639" cy="3657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latin typeface="Roboto"/>
                <a:ea typeface="Roboto"/>
              </a:rPr>
              <a:t>Accenture</a:t>
            </a:r>
            <a:endParaRPr/>
          </a:p>
        </p:txBody>
      </p:sp>
      <p:sp>
        <p:nvSpPr>
          <p:cNvPr id="22" name="Rect22"/>
          <p:cNvSpPr/>
          <p:nvPr/>
        </p:nvSpPr>
        <p:spPr>
          <a:xfrm>
            <a:off x="4343400" y="1234440"/>
            <a:ext cx="1874519" cy="2560320"/>
          </a:xfrm>
          <a:prstGeom prst="rect">
            <a:avLst/>
          </a:prstGeom>
          <a:solidFill>
            <a:srgbClr val="1976D2"/>
          </a:solidFill>
          <a:ln>
            <a:noFill/>
          </a:ln>
        </p:spPr>
        <p:txBody>
          <a:bodyPr/>
          <a:lstStyle/>
          <a:p/>
        </p:txBody>
      </p:sp>
      <p:sp>
        <p:nvSpPr>
          <p:cNvPr id="32" name="Rect32"/>
          <p:cNvSpPr/>
          <p:nvPr/>
        </p:nvSpPr>
        <p:spPr>
          <a:xfrm>
            <a:off x="4343400" y="1234440"/>
            <a:ext cx="1874519" cy="73152"/>
          </a:xfrm>
          <a:prstGeom prst="rect">
            <a:avLst/>
          </a:prstGeom>
          <a:solidFill>
            <a:srgbClr val="DB4437"/>
          </a:solidFill>
          <a:ln>
            <a:noFill/>
          </a:ln>
        </p:spPr>
        <p:txBody>
          <a:bodyPr/>
          <a:lstStyle/>
          <a:p/>
        </p:txBody>
      </p:sp>
      <p:sp>
        <p:nvSpPr>
          <p:cNvPr id="42" name="Shape42"/>
          <p:cNvSpPr txBox="1"/>
          <p:nvPr/>
        </p:nvSpPr>
        <p:spPr>
          <a:xfrm>
            <a:off x="4453128" y="1371600"/>
            <a:ext cx="1691639"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Ankur Omar</a:t>
            </a:r>
            <a:endParaRPr/>
          </a:p>
        </p:txBody>
      </p:sp>
      <p:sp>
        <p:nvSpPr>
          <p:cNvPr id="52" name="Shape52"/>
          <p:cNvSpPr txBox="1"/>
          <p:nvPr/>
        </p:nvSpPr>
        <p:spPr>
          <a:xfrm>
            <a:off x="4453128" y="1920240"/>
            <a:ext cx="1691639"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4FC3F7"/>
                </a:solidFill>
                <a:latin typeface="Roboto"/>
                <a:ea typeface="Roboto"/>
              </a:rPr>
              <a:t>Salesforce Manager</a:t>
            </a:r>
            <a:endParaRPr/>
          </a:p>
        </p:txBody>
      </p:sp>
      <p:sp>
        <p:nvSpPr>
          <p:cNvPr id="62" name="Shape62"/>
          <p:cNvSpPr txBox="1"/>
          <p:nvPr/>
        </p:nvSpPr>
        <p:spPr>
          <a:xfrm>
            <a:off x="4453128" y="2377440"/>
            <a:ext cx="1691639" cy="3657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latin typeface="Roboto"/>
                <a:ea typeface="Roboto"/>
              </a:rPr>
              <a:t>Accenture</a:t>
            </a:r>
            <a:endParaRPr/>
          </a:p>
        </p:txBody>
      </p:sp>
      <p:sp>
        <p:nvSpPr>
          <p:cNvPr id="23" name="Rect23"/>
          <p:cNvSpPr/>
          <p:nvPr/>
        </p:nvSpPr>
        <p:spPr>
          <a:xfrm>
            <a:off x="6355080" y="1234440"/>
            <a:ext cx="1874519" cy="2560320"/>
          </a:xfrm>
          <a:prstGeom prst="rect">
            <a:avLst/>
          </a:prstGeom>
          <a:solidFill>
            <a:srgbClr val="1976D2"/>
          </a:solidFill>
          <a:ln>
            <a:noFill/>
          </a:ln>
        </p:spPr>
        <p:txBody>
          <a:bodyPr/>
          <a:lstStyle/>
          <a:p/>
        </p:txBody>
      </p:sp>
      <p:sp>
        <p:nvSpPr>
          <p:cNvPr id="33" name="Rect33"/>
          <p:cNvSpPr/>
          <p:nvPr/>
        </p:nvSpPr>
        <p:spPr>
          <a:xfrm>
            <a:off x="6355080" y="1234440"/>
            <a:ext cx="1874519" cy="73152"/>
          </a:xfrm>
          <a:prstGeom prst="rect">
            <a:avLst/>
          </a:prstGeom>
          <a:solidFill>
            <a:srgbClr val="F4B400"/>
          </a:solidFill>
          <a:ln>
            <a:noFill/>
          </a:ln>
        </p:spPr>
        <p:txBody>
          <a:bodyPr/>
          <a:lstStyle/>
          <a:p/>
        </p:txBody>
      </p:sp>
      <p:sp>
        <p:nvSpPr>
          <p:cNvPr id="43" name="Shape43"/>
          <p:cNvSpPr txBox="1"/>
          <p:nvPr/>
        </p:nvSpPr>
        <p:spPr>
          <a:xfrm>
            <a:off x="6464808" y="1371600"/>
            <a:ext cx="1691639" cy="5029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Ravi Kamal</a:t>
            </a:r>
            <a:endParaRPr/>
          </a:p>
        </p:txBody>
      </p:sp>
      <p:sp>
        <p:nvSpPr>
          <p:cNvPr id="53" name="Shape53"/>
          <p:cNvSpPr txBox="1"/>
          <p:nvPr/>
        </p:nvSpPr>
        <p:spPr>
          <a:xfrm>
            <a:off x="6464808" y="1920240"/>
            <a:ext cx="1691639" cy="41148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4FC3F7"/>
                </a:solidFill>
                <a:latin typeface="Roboto"/>
                <a:ea typeface="Roboto"/>
              </a:rPr>
              <a:t>Salesforce Tech Lead</a:t>
            </a:r>
            <a:endParaRPr/>
          </a:p>
        </p:txBody>
      </p:sp>
      <p:sp>
        <p:nvSpPr>
          <p:cNvPr id="63" name="Shape63"/>
          <p:cNvSpPr txBox="1"/>
          <p:nvPr/>
        </p:nvSpPr>
        <p:spPr>
          <a:xfrm>
            <a:off x="6464808" y="2377440"/>
            <a:ext cx="1691639" cy="36576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lt1"/>
                </a:solidFill>
                <a:latin typeface="Roboto"/>
                <a:ea typeface="Roboto"/>
              </a:rPr>
              <a:t>Accenture</a:t>
            </a:r>
            <a:endParaRPr/>
          </a:p>
        </p:txBody>
      </p:sp>
      <p:sp>
        <p:nvSpPr>
          <p:cNvPr id="70" name="Shape70"/>
          <p:cNvSpPr txBox="1"/>
          <p:nvPr/>
        </p:nvSpPr>
        <p:spPr>
          <a:xfrm>
            <a:off x="457200" y="4069080"/>
            <a:ext cx="8321040" cy="4114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B0BEC5"/>
                </a:solidFill>
                <a:latin typeface="Roboto"/>
                <a:ea typeface="Roboto"/>
              </a:rPr>
              <a:t>All team members are from Accenture, India</a:t>
            </a:r>
            <a:endParaRPr/>
          </a:p>
        </p:txBody>
      </p:sp>
      <p:sp>
        <p:nvSpPr>
          <p:cNvPr id="900" name="Rect900"/>
          <p:cNvSpPr/>
          <p:nvPr/>
        </p:nvSpPr>
        <p:spPr>
          <a:xfrm>
            <a:off x="0" y="5070348"/>
            <a:ext cx="9144000" cy="73152"/>
          </a:xfrm>
          <a:prstGeom prst="rect">
            <a:avLst/>
          </a:prstGeom>
          <a:solidFill>
            <a:srgbClr val="F4B400"/>
          </a:solidFill>
          <a:ln>
            <a:noFill/>
          </a:ln>
        </p:spPr>
        <p:txBody>
          <a:bodyPr/>
          <a:lstStyle/>
          <a:p/>
        </p:txBody>
      </p:sp>
    </p:spTree>
  </p:cSld>
  <p:clrMapOvr>
    <a:masterClrMapping/>
  </p:clrMapOvr>
</p:sld>
</file>

<file path=ppt/slides/slide3.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100" name="Rect100"/><p:cNvSpPr/><p:nvPr/></p:nvSpPr><p:spPr><a:xfrm><a:off x="0" y="0"/><a:ext cx="228600" cy="5143500"/></a:xfrm><a:prstGeom prst="rect"><a:avLst/></a:prstGeom><a:solidFill><a:srgbClr val="F4B400"/></a:solidFill><a:ln><a:noFill/></a:ln></p:spPr><p:txBody><a:bodyPr/><a:lstStyle/><a:p/></p:txBody></p:sp><p:sp><p:nvSpPr><p:cNvPr id="101" name="Shape101"/><p:cNvSpPr txBox="1"/><p:nvPr/></p:nvSpPr><p:spPr><a:xfrm><a:off x="411480" y="365760"/><a:ext cx="8046720" cy="77724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4000" b="1"><a:solidFill><a:schemeClr val="lt1"/></a:solidFill><a:latin typeface="Roboto"/><a:ea typeface="Roboto"/></a:rPr><a:t>Princy Shah</a:t></a:r><a:endParaRPr/></a:p></p:txBody></p:sp><p:sp><p:nvSpPr><p:cNvPr id="102" name="Rect102"/><p:cNvSpPr/><p:nvPr/></p:nvSpPr><p:spPr><a:xfrm><a:off x="411480" y="1234440"/><a:ext cx="2743200" cy="347472"/></a:xfrm><a:prstGeom prst="rect"><a:avLst/></a:prstGeom><a:solidFill><a:srgbClr val="0F9D58"/></a:solidFill><a:ln><a:noFill/></a:ln></p:spPr><p:txBody><a:bodyPr/><a:lstStyle/><a:p/></p:txBody></p:sp><p:sp><p:nvSpPr><p:cNvPr id="103" name="Shape103"/><p:cNvSpPr txBox="1"/><p:nvPr/></p:nvSpPr><p:spPr><a:xfrm><a:off x="411480" y="1234440"/><a:ext cx="274320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 b="1"><a:solidFill><a:srgbClr val="000000"/></a:solidFill><a:latin typeface="Roboto"/><a:ea typeface="Roboto"/></a:rPr><a:t>Salesforce Tech Lead</a:t></a:r><a:endParaRPr/></a:p></p:txBody></p:sp><p:sp><p:nvSpPr><p:cNvPr id="104" name="Shape104"/><p:cNvSpPr txBox="1"/><p:nvPr/></p:nvSpPr><p:spPr><a:xfrm><a:off x="3291840" y="1280160"/><a:ext cx="530352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a:solidFill><a:schemeClr val="lt1"/></a:solidFill><a:latin typeface="Roboto"/><a:ea typeface="Roboto"/></a:rPr><a:t>🏢  Accenture</a:t></a:r><a:endParaRPr/></a:p></p:txBody></p:sp><p:sp><p:nvSpPr><p:cNvPr id="105" name="Rect105"/><p:cNvSpPr/><p:nvPr/></p:nvSpPr><p:spPr><a:xfrm><a:off x="411480" y="1691640"/><a:ext cx="7863840" cy="27432"/></a:xfrm><a:prstGeom prst="rect"><a:avLst/></a:prstGeom><a:solidFill><a:srgbClr val="FFFFFF"/></a:solidFill><a:ln><a:noFill/></a:ln></p:spPr><p:txBody><a:bodyPr/><a:lstStyle/><a:p/></p:txBody></p:sp><p:sp><p:nvSpPr><p:cNvPr id="106" name="Shape106"/><p:cNvSpPr txBox="1"/><p:nvPr/></p:nvSpPr><p:spPr><a:xfrm><a:off x="41148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F4B400"/></a:solidFill><a:latin typeface="Roboto"/><a:ea typeface="Roboto"/></a:rPr><a:t>Key Skills</a:t></a:r><a:endParaRPr/></a:p></p:txBody></p:sp><p:sp><p:nvSpPr><p:cNvPr id="107" name="Shape107"/><p:cNvSpPr txBox="1"/><p:nvPr/></p:nvSpPr><p:spPr><a:xfrm><a:off x="41148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Salesforce Agentforce & GenAI</a:t></a:r><a:endParaRPr/></a:p><a:p><a:pPr indent="0" lvl="0" marL="0" rtl="0" algn="l"><a:spcBef><a:spcPts val="200"/></a:spcBef><a:spcAft><a:spcPts val="0"/></a:spcAft><a:buNone/></a:pPr><a:r><a:rPr lang="en" sz="1600"><a:solidFill><a:schemeClr val="lt1"/></a:solidFill><a:latin typeface="Roboto"/><a:ea typeface="Roboto"/></a:rPr><a:t>◆  Apex & LWC Development</a:t></a:r><a:endParaRPr/></a:p><a:p><a:pPr indent="0" lvl="0" marL="0" rtl="0" algn="l"><a:spcBef><a:spcPts val="200"/></a:spcBef><a:spcAft><a:spcPts val="0"/></a:spcAft><a:buNone/></a:pPr><a:r><a:rPr lang="en" sz="1600"><a:solidFill><a:schemeClr val="lt1"/></a:solidFill><a:latin typeface="Roboto"/><a:ea typeface="Roboto"/></a:rPr><a:t>◆  Experience Cloud</a:t></a:r><a:endParaRPr/></a:p><a:p><a:pPr indent="0" lvl="0" marL="0" rtl="0" algn="l"><a:spcBef><a:spcPts val="200"/></a:spcBef><a:spcAft><a:spcPts val="0"/></a:spcAft><a:buNone/></a:pPr><a:r><a:rPr lang="en" sz="1600"><a:solidFill><a:schemeClr val="lt1"/></a:solidFill><a:latin typeface="Roboto"/><a:ea typeface="Roboto"/></a:rPr><a:t>◆  Document AI / IDP</a:t></a:r><a:endParaRPr/></a:p><a:p><a:pPr indent="0" lvl="0" marL="0" rtl="0" algn="l"><a:spcBef><a:spcPts val="200"/></a:spcBef><a:spcAft><a:spcPts val="0"/></a:spcAft><a:buNone/></a:pPr><a:r><a:rPr lang="en" sz="1600"><a:solidFill><a:schemeClr val="lt1"/></a:solidFill><a:latin typeface="Roboto"/><a:ea typeface="Roboto"/></a:rPr><a:t>◆  Integration (REST/SOAP)</a:t></a:r><a:endParaRPr/></a:p></p:txBody></p:sp><p:sp><p:nvSpPr><p:cNvPr id="108" name="Shape108"/><p:cNvSpPr txBox="1"/><p:nvPr/></p:nvSpPr><p:spPr><a:xfrm><a:off x="438912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4FC3F7"/></a:solidFill><a:latin typeface="Roboto"/><a:ea typeface="Roboto"/></a:rPr><a:t>Contribution</a:t></a:r><a:endParaRPr/></a:p></p:txBody></p:sp><p:sp><p:nvSpPr><p:cNvPr id="109" name="Shape109"/><p:cNvSpPr txBox="1"/><p:nvPr/></p:nvSpPr><p:spPr><a:xfrm><a:off x="438912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Architected the GenAI Planner bundle</a:t></a:r><a:endParaRPr/></a:p><a:p><a:pPr indent="0" lvl="0" marL="0" rtl="0" algn="l"><a:spcBef><a:spcPts val="200"/></a:spcBef><a:spcAft><a:spcPts val="0"/></a:spcAft><a:buNone/></a:pPr><a:r><a:rPr lang="en" sz="1600"><a:solidFill><a:schemeClr val="lt1"/></a:solidFill><a:latin typeface="Roboto"/><a:ea typeface="Roboto"/></a:rPr><a:t>◆  Built ProcessDocumentAI Apex</a:t></a:r><a:endParaRPr/></a:p><a:p><a:pPr indent="0" lvl="0" marL="0" rtl="0" algn="l"><a:spcBef><a:spcPts val="200"/></a:spcBef><a:spcAft><a:spcPts val="0"/></a:spcAft><a:buNone/></a:pPr><a:r><a:rPr lang="en" sz="1600"><a:solidFill><a:schemeClr val="lt1"/></a:solidFill><a:latin typeface="Roboto"/><a:ea typeface="Roboto"/></a:rPr><a:t>◆  Designed dispute & KYC flows</a:t></a:r><a:endParaRPr/></a:p><a:p><a:pPr indent="0" lvl="0" marL="0" rtl="0" algn="l"><a:spcBef><a:spcPts val="200"/></a:spcBef><a:spcAft><a:spcPts val="0"/></a:spcAft><a:buNone/></a:pPr><a:r><a:rPr lang="en" sz="1600"><a:solidFill><a:schemeClr val="lt1"/></a:solidFill><a:latin typeface="Roboto"/><a:ea typeface="Roboto"/></a:rPr><a:t>◆  Led overall technical delivery</a:t></a:r><a:endParaRPr/></a:p></p:txBody></p:sp><p:sp><p:nvSpPr><p:cNvPr id="900" name="Rect900"/><p:cNvSpPr/><p:nvPr/></p:nvSpPr><p:spPr><a:xfrm><a:off x="0" y="5070348"/><a:ext cx="9144000" cy="73152"/></a:xfrm><a:prstGeom prst="rect"><a:avLst/></a:prstGeom><a:solidFill><a:srgbClr val="0F9D58"/></a:solidFill><a:ln><a:noFill/></a:ln></p:spPr><p:txBody><a:bodyPr/><a:lstStyle/><a:p/></p:txBody></p:sp></p:spTree></p:cSld><p:clrMapOvr><a:masterClrMapping/></p:clrMapOvr></p:sld>
</file>

<file path=ppt/slides/slide4.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200" name="Rect200"/><p:cNvSpPr/><p:nvPr/></p:nvSpPr><p:spPr><a:xfrm><a:off x="0" y="0"/><a:ext cx="228600" cy="5143500"/></a:xfrm><a:prstGeom prst="rect"><a:avLst/></a:prstGeom><a:solidFill><a:srgbClr val="F4B400"/></a:solidFill><a:ln><a:noFill/></a:ln></p:spPr><p:txBody><a:bodyPr/><a:lstStyle/><a:p/></p:txBody></p:sp><p:sp><p:nvSpPr><p:cNvPr id="201" name="Shape201"/><p:cNvSpPr txBox="1"/><p:nvPr/></p:nvSpPr><p:spPr><a:xfrm><a:off x="411480" y="365760"/><a:ext cx="8046720" cy="77724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4000" b="1"><a:solidFill><a:schemeClr val="lt1"/></a:solidFill><a:latin typeface="Roboto"/><a:ea typeface="Roboto"/></a:rPr><a:t>Shraddha Dere</a:t></a:r><a:endParaRPr/></a:p></p:txBody></p:sp><p:sp><p:nvSpPr><p:cNvPr id="202" name="Rect202"/><p:cNvSpPr/><p:nvPr/></p:nvSpPr><p:spPr><a:xfrm><a:off x="411480" y="1234440"/><a:ext cx="2743200" cy="347472"/></a:xfrm><a:prstGeom prst="rect"><a:avLst/></a:prstGeom><a:solidFill><a:srgbClr val="0F9D58"/></a:solidFill><a:ln><a:noFill/></a:ln></p:spPr><p:txBody><a:bodyPr/><a:lstStyle/><a:p/></p:txBody></p:sp><p:sp><p:nvSpPr><p:cNvPr id="203" name="Shape203"/><p:cNvSpPr txBox="1"/><p:nvPr/></p:nvSpPr><p:spPr><a:xfrm><a:off x="411480" y="1234440"/><a:ext cx="274320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 b="1"><a:solidFill><a:srgbClr val="000000"/></a:solidFill><a:latin typeface="Roboto"/><a:ea typeface="Roboto"/></a:rPr><a:t>Salesforce Tech Lead</a:t></a:r><a:endParaRPr/></a:p></p:txBody></p:sp><p:sp><p:nvSpPr><p:cNvPr id="204" name="Shape204"/><p:cNvSpPr txBox="1"/><p:nvPr/></p:nvSpPr><p:spPr><a:xfrm><a:off x="3291840" y="1280160"/><a:ext cx="530352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a:solidFill><a:schemeClr val="lt1"/></a:solidFill><a:latin typeface="Roboto"/><a:ea typeface="Roboto"/></a:rPr><a:t>🏢  Accenture</a:t></a:r><a:endParaRPr/></a:p></p:txBody></p:sp><p:sp><p:nvSpPr><p:cNvPr id="205" name="Rect205"/><p:cNvSpPr/><p:nvPr/></p:nvSpPr><p:spPr><a:xfrm><a:off x="411480" y="1691640"/><a:ext cx="7863840" cy="27432"/></a:xfrm><a:prstGeom prst="rect"><a:avLst/></a:prstGeom><a:solidFill><a:srgbClr val="FFFFFF"/></a:solidFill><a:ln><a:noFill/></a:ln></p:spPr><p:txBody><a:bodyPr/><a:lstStyle/><a:p/></p:txBody></p:sp><p:sp><p:nvSpPr><p:cNvPr id="206" name="Shape206"/><p:cNvSpPr txBox="1"/><p:nvPr/></p:nvSpPr><p:spPr><a:xfrm><a:off x="41148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F4B400"/></a:solidFill><a:latin typeface="Roboto"/><a:ea typeface="Roboto"/></a:rPr><a:t>Key Skills</a:t></a:r><a:endParaRPr/></a:p></p:txBody></p:sp><p:sp><p:nvSpPr><p:cNvPr id="207" name="Shape207"/><p:cNvSpPr txBox="1"/><p:nvPr/></p:nvSpPr><p:spPr><a:xfrm><a:off x="41148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Salesforce Agentforce & GenAI</a:t></a:r><a:endParaRPr/></a:p><a:p><a:pPr indent="0" lvl="0" marL="0" rtl="0" algn="l"><a:spcBef><a:spcPts val="200"/></a:spcBef><a:spcAft><a:spcPts val="0"/></a:spcAft><a:buNone/></a:pPr><a:r><a:rPr lang="en" sz="1600"><a:solidFill><a:schemeClr val="lt1"/></a:solidFill><a:latin typeface="Roboto"/><a:ea typeface="Roboto"/></a:rPr><a:t>◆  Apex & LWC Development</a:t></a:r><a:endParaRPr/></a:p><a:p><a:pPr indent="0" lvl="0" marL="0" rtl="0" algn="l"><a:spcBef><a:spcPts val="200"/></a:spcBef><a:spcAft><a:spcPts val="0"/></a:spcAft><a:buNone/></a:pPr><a:r><a:rPr lang="en" sz="1600"><a:solidFill><a:schemeClr val="lt1"/></a:solidFill><a:latin typeface="Roboto"/><a:ea typeface="Roboto"/></a:rPr><a:t>◆  Experience Cloud</a:t></a:r><a:endParaRPr/></a:p><a:p><a:pPr indent="0" lvl="0" marL="0" rtl="0" algn="l"><a:spcBef><a:spcPts val="200"/></a:spcBef><a:spcAft><a:spcPts val="0"/></a:spcAft><a:buNone/></a:pPr><a:r><a:rPr lang="en" sz="1600"><a:solidFill><a:schemeClr val="lt1"/></a:solidFill><a:latin typeface="Roboto"/><a:ea typeface="Roboto"/></a:rPr><a:t>◆  Document AI / IDP</a:t></a:r><a:endParaRPr/></a:p><a:p><a:pPr indent="0" lvl="0" marL="0" rtl="0" algn="l"><a:spcBef><a:spcPts val="200"/></a:spcBef><a:spcAft><a:spcPts val="0"/></a:spcAft><a:buNone/></a:pPr><a:r><a:rPr lang="en" sz="1600"><a:solidFill><a:schemeClr val="lt1"/></a:solidFill><a:latin typeface="Roboto"/><a:ea typeface="Roboto"/></a:rPr><a:t>◆  Integration (REST/SOAP)</a:t></a:r><a:endParaRPr/></a:p></p:txBody></p:sp><p:sp><p:nvSpPr><p:cNvPr id="208" name="Shape208"/><p:cNvSpPr txBox="1"/><p:nvPr/></p:nvSpPr><p:spPr><a:xfrm><a:off x="438912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4FC3F7"/></a:solidFill><a:latin typeface="Roboto"/><a:ea typeface="Roboto"/></a:rPr><a:t>Contribution</a:t></a:r><a:endParaRPr/></a:p></p:txBody></p:sp><p:sp><p:nvSpPr><p:cNvPr id="209" name="Shape209"/><p:cNvSpPr txBox="1"/><p:nvPr/></p:nvSpPr><p:spPr><a:xfrm><a:off x="438912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Developed Agentforce topic instructions</a:t></a:r><a:endParaRPr/></a:p><a:p><a:pPr indent="0" lvl="0" marL="0" rtl="0" algn="l"><a:spcBef><a:spcPts val="200"/></a:spcBef><a:spcAft><a:spcPts val="0"/></a:spcAft><a:buNone/></a:pPr><a:r><a:rPr lang="en" sz="1600"><a:solidFill><a:schemeClr val="lt1"/></a:solidFill><a:latin typeface="Roboto"/><a:ea typeface="Roboto"/></a:rPr><a:t>◆  Built account & statement actions</a:t></a:r><a:endParaRPr/></a:p><a:p><a:pPr indent="0" lvl="0" marL="0" rtl="0" algn="l"><a:spcBef><a:spcPts val="200"/></a:spcBef><a:spcAft><a:spcPts val="0"/></a:spcAft><a:buNone/></a:pPr><a:r><a:rPr lang="en" sz="1600"><a:solidFill><a:schemeClr val="lt1"/></a:solidFill><a:latin typeface="Roboto"/><a:ea typeface="Roboto"/></a:rPr><a:t>◆  Implemented multilingual agent flow</a:t></a:r><a:endParaRPr/></a:p><a:p><a:pPr indent="0" lvl="0" marL="0" rtl="0" algn="l"><a:spcBef><a:spcPts val="200"/></a:spcBef><a:spcAft><a:spcPts val="0"/></a:spcAft><a:buNone/></a:pPr><a:r><a:rPr lang="en" sz="1600"><a:solidFill><a:schemeClr val="lt1"/></a:solidFill><a:latin typeface="Roboto"/><a:ea typeface="Roboto"/></a:rPr><a:t>◆  Testing & quality assurance</a:t></a:r><a:endParaRPr/></a:p></p:txBody></p:sp><p:sp><p:nvSpPr><p:cNvPr id="900" name="Rect900"/><p:cNvSpPr/><p:nvPr/></p:nvSpPr><p:spPr><a:xfrm><a:off x="0" y="5070348"/><a:ext cx="9144000" cy="73152"/></a:xfrm><a:prstGeom prst="rect"><a:avLst/></a:prstGeom><a:solidFill><a:srgbClr val="0F9D58"/></a:solidFill><a:ln><a:noFill/></a:ln></p:spPr><p:txBody><a:bodyPr/><a:lstStyle/><a:p/></p:txBody></p:sp></p:spTree></p:cSld><p:clrMapOvr><a:masterClrMapping/></p:clrMapOvr></p:sld>
</file>

<file path=ppt/slides/slide5.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300" name="Rect300"/><p:cNvSpPr/><p:nvPr/></p:nvSpPr><p:spPr><a:xfrm><a:off x="0" y="0"/><a:ext cx="228600" cy="5143500"/></a:xfrm><a:prstGeom prst="rect"><a:avLst/></a:prstGeom><a:solidFill><a:srgbClr val="F4B400"/></a:solidFill><a:ln><a:noFill/></a:ln></p:spPr><p:txBody><a:bodyPr/><a:lstStyle/><a:p/></p:txBody></p:sp><p:sp><p:nvSpPr><p:cNvPr id="301" name="Shape301"/><p:cNvSpPr txBox="1"/><p:nvPr/></p:nvSpPr><p:spPr><a:xfrm><a:off x="411480" y="365760"/><a:ext cx="8046720" cy="77724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4000" b="1"><a:solidFill><a:schemeClr val="lt1"/></a:solidFill><a:latin typeface="Roboto"/><a:ea typeface="Roboto"/></a:rPr><a:t>Ankur Omar</a:t></a:r><a:endParaRPr/></a:p></p:txBody></p:sp><p:sp><p:nvSpPr><p:cNvPr id="302" name="Rect302"/><p:cNvSpPr/><p:nvPr/></p:nvSpPr><p:spPr><a:xfrm><a:off x="411480" y="1234440"/><a:ext cx="2743200" cy="347472"/></a:xfrm><a:prstGeom prst="rect"><a:avLst/></a:prstGeom><a:solidFill><a:srgbClr val="0F9D58"/></a:solidFill><a:ln><a:noFill/></a:ln></p:spPr><p:txBody><a:bodyPr/><a:lstStyle/><a:p/></p:txBody></p:sp><p:sp><p:nvSpPr><p:cNvPr id="303" name="Shape303"/><p:cNvSpPr txBox="1"/><p:nvPr/></p:nvSpPr><p:spPr><a:xfrm><a:off x="411480" y="1234440"/><a:ext cx="274320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 b="1"><a:solidFill><a:srgbClr val="000000"/></a:solidFill><a:latin typeface="Roboto"/><a:ea typeface="Roboto"/></a:rPr><a:t>Salesforce Manager</a:t></a:r><a:endParaRPr/></a:p></p:txBody></p:sp><p:sp><p:nvSpPr><p:cNvPr id="304" name="Shape304"/><p:cNvSpPr txBox="1"/><p:nvPr/></p:nvSpPr><p:spPr><a:xfrm><a:off x="3291840" y="1280160"/><a:ext cx="530352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a:solidFill><a:schemeClr val="lt1"/></a:solidFill><a:latin typeface="Roboto"/><a:ea typeface="Roboto"/></a:rPr><a:t>🏢  Accenture</a:t></a:r><a:endParaRPr/></a:p></p:txBody></p:sp><p:sp><p:nvSpPr><p:cNvPr id="305" name="Rect305"/><p:cNvSpPr/><p:nvPr/></p:nvSpPr><p:spPr><a:xfrm><a:off x="411480" y="1691640"/><a:ext cx="7863840" cy="27432"/></a:xfrm><a:prstGeom prst="rect"><a:avLst/></a:prstGeom><a:solidFill><a:srgbClr val="FFFFFF"/></a:solidFill><a:ln><a:noFill/></a:ln></p:spPr><p:txBody><a:bodyPr/><a:lstStyle/><a:p/></p:txBody></p:sp><p:sp><p:nvSpPr><p:cNvPr id="306" name="Shape306"/><p:cNvSpPr txBox="1"/><p:nvPr/></p:nvSpPr><p:spPr><a:xfrm><a:off x="41148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F4B400"/></a:solidFill><a:latin typeface="Roboto"/><a:ea typeface="Roboto"/></a:rPr><a:t>Key Skills</a:t></a:r><a:endParaRPr/></a:p></p:txBody></p:sp><p:sp><p:nvSpPr><p:cNvPr id="307" name="Shape307"/><p:cNvSpPr txBox="1"/><p:nvPr/></p:nvSpPr><p:spPr><a:xfrm><a:off x="41148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Solution Architecture</a:t></a:r><a:endParaRPr/></a:p><a:p><a:pPr indent="0" lvl="0" marL="0" rtl="0" algn="l"><a:spcBef><a:spcPts val="200"/></a:spcBef><a:spcAft><a:spcPts val="0"/></a:spcAft><a:buNone/></a:pPr><a:r><a:rPr lang="en" sz="1600"><a:solidFill><a:schemeClr val="lt1"/></a:solidFill><a:latin typeface="Roboto"/><a:ea typeface="Roboto"/></a:rPr><a:t>◆  BFSI Domain Expertise</a:t></a:r><a:endParaRPr/></a:p><a:p><a:pPr indent="0" lvl="0" marL="0" rtl="0" algn="l"><a:spcBef><a:spcPts val="200"/></a:spcBef><a:spcAft><a:spcPts val="0"/></a:spcAft><a:buNone/></a:pPr><a:r><a:rPr lang="en" sz="1600"><a:solidFill><a:schemeClr val="lt1"/></a:solidFill><a:latin typeface="Roboto"/><a:ea typeface="Roboto"/></a:rPr><a:t>◆  Salesforce Platform Strategy</a:t></a:r><a:endParaRPr/></a:p><a:p><a:pPr indent="0" lvl="0" marL="0" rtl="0" algn="l"><a:spcBef><a:spcPts val="200"/></a:spcBef><a:spcAft><a:spcPts val="0"/></a:spcAft><a:buNone/></a:pPr><a:r><a:rPr lang="en" sz="1600"><a:solidFill><a:schemeClr val="lt1"/></a:solidFill><a:latin typeface="Roboto"/><a:ea typeface="Roboto"/></a:rPr><a:t>◆  Integration Design</a:t></a:r><a:endParaRPr/></a:p><a:p><a:pPr indent="0" lvl="0" marL="0" rtl="0" algn="l"><a:spcBef><a:spcPts val="200"/></a:spcBef><a:spcAft><a:spcPts val="0"/></a:spcAft><a:buNone/></a:pPr><a:r><a:rPr lang="en" sz="1600"><a:solidFill><a:schemeClr val="lt1"/></a:solidFill><a:latin typeface="Roboto"/><a:ea typeface="Roboto"/></a:rPr><a:t>◆  Stakeholder Management</a:t></a:r><a:endParaRPr/></a:p></p:txBody></p:sp><p:sp><p:nvSpPr><p:cNvPr id="308" name="Shape308"/><p:cNvSpPr txBox="1"/><p:nvPr/></p:nvSpPr><p:spPr><a:xfrm><a:off x="438912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4FC3F7"/></a:solidFill><a:latin typeface="Roboto"/><a:ea typeface="Roboto"/></a:rPr><a:t>Contribution</a:t></a:r><a:endParaRPr/></a:p></p:txBody></p:sp><p:sp><p:nvSpPr><p:cNvPr id="309" name="Shape309"/><p:cNvSpPr txBox="1"/><p:nvPr/></p:nvSpPr><p:spPr><a:xfrm><a:off x="438912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Defined overall solution architecture</a:t></a:r><a:endParaRPr/></a:p><a:p><a:pPr indent="0" lvl="0" marL="0" rtl="0" algn="l"><a:spcBef><a:spcPts val="200"/></a:spcBef><a:spcAft><a:spcPts val="0"/></a:spcAft><a:buNone/></a:pPr><a:r><a:rPr lang="en" sz="1600"><a:solidFill><a:schemeClr val="lt1"/></a:solidFill><a:latin typeface="Roboto"/><a:ea typeface="Roboto"/></a:rPr><a:t>◆  Designed banking use-case scenarios</a:t></a:r><a:endParaRPr/></a:p><a:p><a:pPr indent="0" lvl="0" marL="0" rtl="0" algn="l"><a:spcBef><a:spcPts val="200"/></a:spcBef><a:spcAft><a:spcPts val="0"/></a:spcAft><a:buNone/></a:pPr><a:r><a:rPr lang="en" sz="1600"><a:solidFill><a:schemeClr val="lt1"/></a:solidFill><a:latin typeface="Roboto"/><a:ea typeface="Roboto"/></a:rPr><a:t>◆  Mapped BFSI compliance requirements</a:t></a:r><a:endParaRPr/></a:p><a:p><a:pPr indent="0" lvl="0" marL="0" rtl="0" algn="l"><a:spcBef><a:spcPts val="200"/></a:spcBef><a:spcAft><a:spcPts val="0"/></a:spcAft><a:buNone/></a:pPr><a:r><a:rPr lang="en" sz="1600"><a:solidFill><a:schemeClr val="lt1"/></a:solidFill><a:latin typeface="Roboto"/><a:ea typeface="Roboto"/></a:rPr><a:t>◆  Demo story & presentation lead</a:t></a:r><a:endParaRPr/></a:p></p:txBody></p:sp><p:sp><p:nvSpPr><p:cNvPr id="900" name="Rect900"/><p:cNvSpPr/><p:nvPr/></p:nvSpPr><p:spPr><a:xfrm><a:off x="0" y="5070348"/><a:ext cx="9144000" cy="73152"/></a:xfrm><a:prstGeom prst="rect"><a:avLst/></a:prstGeom><a:solidFill><a:srgbClr val="0F9D58"/></a:solidFill><a:ln><a:noFill/></a:ln></p:spPr><p:txBody><a:bodyPr/><a:lstStyle/><a:p/></p:txBody></p:sp></p:spTree></p:cSld><p:clrMapOvr><a:masterClrMapping/></p:clrMapOvr></p:sld>
</file>

<file path=ppt/slides/slide6.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400" name="Rect400"/><p:cNvSpPr/><p:nvPr/></p:nvSpPr><p:spPr><a:xfrm><a:off x="0" y="0"/><a:ext cx="228600" cy="5143500"/></a:xfrm><a:prstGeom prst="rect"><a:avLst/></a:prstGeom><a:solidFill><a:srgbClr val="F4B400"/></a:solidFill><a:ln><a:noFill/></a:ln></p:spPr><p:txBody><a:bodyPr/><a:lstStyle/><a:p/></p:txBody></p:sp><p:sp><p:nvSpPr><p:cNvPr id="401" name="Shape401"/><p:cNvSpPr txBox="1"/><p:nvPr/></p:nvSpPr><p:spPr><a:xfrm><a:off x="411480" y="365760"/><a:ext cx="8046720" cy="77724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4000" b="1"><a:solidFill><a:schemeClr val="lt1"/></a:solidFill><a:latin typeface="Roboto"/><a:ea typeface="Roboto"/></a:rPr><a:t>Ravi Kamal</a:t></a:r><a:endParaRPr/></a:p></p:txBody></p:sp><p:sp><p:nvSpPr><p:cNvPr id="402" name="Rect402"/><p:cNvSpPr/><p:nvPr/></p:nvSpPr><p:spPr><a:xfrm><a:off x="411480" y="1234440"/><a:ext cx="2743200" cy="347472"/></a:xfrm><a:prstGeom prst="rect"><a:avLst/></a:prstGeom><a:solidFill><a:srgbClr val="0F9D58"/></a:solidFill><a:ln><a:noFill/></a:ln></p:spPr><p:txBody><a:bodyPr/><a:lstStyle/><a:p/></p:txBody></p:sp><p:sp><p:nvSpPr><p:cNvPr id="403" name="Shape403"/><p:cNvSpPr txBox="1"/><p:nvPr/></p:nvSpPr><p:spPr><a:xfrm><a:off x="411480" y="1234440"/><a:ext cx="274320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 b="1"><a:solidFill><a:srgbClr val="000000"/></a:solidFill><a:latin typeface="Roboto"/><a:ea typeface="Roboto"/></a:rPr><a:t>Salesforce Tech Lead</a:t></a:r><a:endParaRPr/></a:p></p:txBody></p:sp><p:sp><p:nvSpPr><p:cNvPr id="404" name="Shape404"/><p:cNvSpPr txBox="1"/><p:nvPr/></p:nvSpPr><p:spPr><a:xfrm><a:off x="3291840" y="1280160"/><a:ext cx="5303520" cy="347472"/></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600"><a:solidFill><a:schemeClr val="lt1"/></a:solidFill><a:latin typeface="Roboto"/><a:ea typeface="Roboto"/></a:rPr><a:t>🏢  Accenture</a:t></a:r><a:endParaRPr/></a:p></p:txBody></p:sp><p:sp><p:nvSpPr><p:cNvPr id="405" name="Rect405"/><p:cNvSpPr/><p:nvPr/></p:nvSpPr><p:spPr><a:xfrm><a:off x="411480" y="1691640"/><a:ext cx="7863840" cy="27432"/></a:xfrm><a:prstGeom prst="rect"><a:avLst/></a:prstGeom><a:solidFill><a:srgbClr val="FFFFFF"/></a:solidFill><a:ln><a:noFill/></a:ln></p:spPr><p:txBody><a:bodyPr/><a:lstStyle/><a:p/></p:txBody></p:sp><p:sp><p:nvSpPr><p:cNvPr id="406" name="Shape406"/><p:cNvSpPr txBox="1"/><p:nvPr/></p:nvSpPr><p:spPr><a:xfrm><a:off x="41148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F4B400"/></a:solidFill><a:latin typeface="Roboto"/><a:ea typeface="Roboto"/></a:rPr><a:t>Key Skills</a:t></a:r><a:endParaRPr/></a:p></p:txBody></p:sp><p:sp><p:nvSpPr><p:cNvPr id="407" name="Shape407"/><p:cNvSpPr txBox="1"/><p:nvPr/></p:nvSpPr><p:spPr><a:xfrm><a:off x="41148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Experience Cloud</a:t></a:r><a:endParaRPr/></a:p><a:p><a:pPr indent="0" lvl="0" marL="0" rtl="0" algn="l"><a:spcBef><a:spcPts val="200"/></a:spcBef><a:spcAft><a:spcPts val="0"/></a:spcAft><a:buNone/></a:pPr><a:r><a:rPr lang="en" sz="1600"><a:solidFill><a:schemeClr val="lt1"/></a:solidFill><a:latin typeface="Roboto"/><a:ea typeface="Roboto"/></a:rPr><a:t>◆  LWC & Styling</a:t></a:r><a:endParaRPr/></a:p><a:p><a:pPr indent="0" lvl="0" marL="0" rtl="0" algn="l"><a:spcBef><a:spcPts val="200"/></a:spcBef><a:spcAft><a:spcPts val="0"/></a:spcAft><a:buNone/></a:pPr><a:r><a:rPr lang="en" sz="1600"><a:solidFill><a:schemeClr val="lt1"/></a:solidFill><a:latin typeface="Roboto"/><a:ea typeface="Roboto"/></a:rPr><a:t>◆  Salesforce Flows</a:t></a:r><a:endParaRPr/></a:p><a:p><a:pPr indent="0" lvl="0" marL="0" rtl="0" algn="l"><a:spcBef><a:spcPts val="200"/></a:spcBef><a:spcAft><a:spcPts val="0"/></a:spcAft><a:buNone/></a:pPr><a:r><a:rPr lang="en" sz="1600"><a:solidFill><a:schemeClr val="lt1"/></a:solidFill><a:latin typeface="Roboto"/><a:ea typeface="Roboto"/></a:rPr><a:t>◆  Omnichannel Configuration</a:t></a:r><a:endParaRPr/></a:p><a:p><a:pPr indent="0" lvl="0" marL="0" rtl="0" algn="l"><a:spcBef><a:spcPts val="200"/></a:spcBef><a:spcAft><a:spcPts val="0"/></a:spcAft><a:buNone/></a:pPr><a:r><a:rPr lang="en" sz="1600"><a:solidFill><a:schemeClr val="lt1"/></a:solidFill><a:latin typeface="Roboto"/><a:ea typeface="Roboto"/></a:rPr><a:t>◆  Demo Preparation</a:t></a:r><a:endParaRPr/></a:p></p:txBody></p:sp><p:sp><p:nvSpPr><p:cNvPr id="408" name="Shape408"/><p:cNvSpPr txBox="1"/><p:nvPr/></p:nvSpPr><p:spPr><a:xfrm><a:off x="4389120" y="1828800"/><a:ext cx="3657600" cy="41148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700" b="1"><a:solidFill><a:srgbClr val="4FC3F7"/></a:solidFill><a:latin typeface="Roboto"/><a:ea typeface="Roboto"/></a:rPr><a:t>Contribution</a:t></a:r><a:endParaRPr/></a:p></p:txBody></p:sp><p:sp><p:nvSpPr><p:cNvPr id="409" name="Shape409"/><p:cNvSpPr txBox="1"/><p:nvPr/></p:nvSpPr><p:spPr><a:xfrm><a:off x="4389120" y="2331720"/><a:ext cx="3749039" cy="2011680"/></a:xfrm><a:prstGeom prst="rect"><a:avLst/></a:prstGeom><a:noFill/><a:ln><a:noFill/></a:ln></p:spPr><p:txBody><a:bodyPr anchorCtr="0" anchor="t" bIns="91425" lIns="91425" spcFirstLastPara="1" rIns="91425" wrap="square" tIns="91425"><a:noAutofit/></a:bodyPr><a:lstStyle/><a:p><a:pPr indent="0" lvl="0" marL="0" rtl="0" algn="l"><a:spcBef><a:spcPts val="200"/></a:spcBef><a:spcAft><a:spcPts val="0"/></a:spcAft><a:buNone/></a:pPr><a:r><a:rPr lang="en" sz="1600"><a:solidFill><a:schemeClr val="lt1"/></a:solidFill><a:latin typeface="Roboto"/><a:ea typeface="Roboto"/></a:rPr><a:t>◆  Built Experience Cloud chat portal</a:t></a:r><a:endParaRPr/></a:p><a:p><a:pPr indent="0" lvl="0" marL="0" rtl="0" algn="l"><a:spcBef><a:spcPts val="200"/></a:spcBef><a:spcAft><a:spcPts val="0"/></a:spcAft><a:buNone/></a:pPr><a:r><a:rPr lang="en" sz="1600"><a:solidFill><a:schemeClr val="lt1"/></a:solidFill><a:latin typeface="Roboto"/><a:ea typeface="Roboto"/></a:rPr><a:t>◆  Designed UI/UX components</a:t></a:r><a:endParaRPr/></a:p><a:p><a:pPr indent="0" lvl="0" marL="0" rtl="0" algn="l"><a:spcBef><a:spcPts val="200"/></a:spcBef><a:spcAft><a:spcPts val="0"/></a:spcAft><a:buNone/></a:pPr><a:r><a:rPr lang="en" sz="1600"><a:solidFill><a:schemeClr val="lt1"/></a:solidFill><a:latin typeface="Roboto"/><a:ea typeface="Roboto"/></a:rPr><a:t>◆  Configured Omnichannel routing</a:t></a:r><a:endParaRPr/></a:p><a:p><a:pPr indent="0" lvl="0" marL="0" rtl="0" algn="l"><a:spcBef><a:spcPts val="200"/></a:spcBef><a:spcAft><a:spcPts val="0"/></a:spcAft><a:buNone/></a:pPr><a:r><a:rPr lang="en" sz="1600"><a:solidFill><a:schemeClr val="lt1"/></a:solidFill><a:latin typeface="Roboto"/><a:ea typeface="Roboto"/></a:rPr><a:t>◆  Created and recorded demo video</a:t></a:r><a:endParaRPr/></a:p></p:txBody></p:sp><p:sp><p:nvSpPr><p:cNvPr id="900" name="Rect900"/><p:cNvSpPr/><p:nvPr/></p:nvSpPr><p:spPr><a:xfrm><a:off x="0" y="5070348"/><a:ext cx="9144000" cy="73152"/></a:xfrm><a:prstGeom prst="rect"><a:avLst/></a:prstGeom><a:solidFill><a:srgbClr val="0F9D58"/></a:solidFill><a:ln><a:noFill/></a:ln></p:spPr><p:txBody><a:bodyPr/><a:lstStyle/><a:p/></p:txBody></p:sp></p:spTree></p:cSld><p:clrMapOvr><a:masterClrMapping/></p:clrMapOvr></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Mission Statement:</a:t>
            </a:r>
            <a:endParaRPr/>
          </a:p>
        </p:txBody>
      </p:sp>
      <p:sp>
        <p:nvSpPr>
          <p:cNvPr id="11" name="Rect11"/>
          <p:cNvSpPr/>
          <p:nvPr/>
        </p:nvSpPr>
        <p:spPr>
          <a:xfrm>
            <a:off x="457200" y="960120"/>
            <a:ext cx="7452360" cy="36576"/>
          </a:xfrm>
          <a:prstGeom prst="rect">
            <a:avLst/>
          </a:prstGeom>
          <a:solidFill>
            <a:srgbClr val="F4B400"/>
          </a:solidFill>
          <a:ln>
            <a:noFill/>
          </a:ln>
        </p:spPr>
        <p:txBody>
          <a:bodyPr/>
          <a:lstStyle/>
          <a:p/>
        </p:txBody>
      </p:sp>
      <p:sp>
        <p:nvSpPr>
          <p:cNvPr id="12" name="Shape12"/>
          <p:cNvSpPr txBox="1"/>
          <p:nvPr/>
        </p:nvSpPr>
        <p:spPr>
          <a:xfrm>
            <a:off x="457200" y="1188720"/>
            <a:ext cx="7955279" cy="31089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Roboto"/>
                <a:ea typeface="Roboto"/>
              </a:rPr>
              <a:t>Our mission is to transform the banking experience through a unified, AI-powered Agentforce platform that gives every customer a smart, personalised assistant — capable of checking balances, detecting fraud, processing KYC documents, resolving disputes, and delivering instant support in any language, 24 × 7, without human intervention — making world-class banking accessible to every Indian.</a:t>
            </a:r>
            <a:endParaRPr/>
          </a:p>
        </p:txBody>
      </p:sp>
      <p:sp>
        <p:nvSpPr>
          <p:cNvPr id="900" name="Rect900"/>
          <p:cNvSpPr/>
          <p:nvPr/>
        </p:nvSpPr>
        <p:spPr>
          <a:xfrm>
            <a:off x="0" y="5070348"/>
            <a:ext cx="9144000" cy="73152"/>
          </a:xfrm>
          <a:prstGeom prst="rect">
            <a:avLst/>
          </a:prstGeom>
          <a:solidFill>
            <a:srgbClr val="F4B400"/>
          </a:solidFill>
          <a:ln>
            <a:noFill/>
          </a:ln>
        </p:spPr>
        <p:txBody>
          <a:bodyPr/>
          <a:lstStyl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The Problem</a:t>
            </a:r>
            <a:endParaRPr/>
          </a:p>
        </p:txBody>
      </p:sp>
      <p:sp>
        <p:nvSpPr>
          <p:cNvPr id="11" name="Rect11"/>
          <p:cNvSpPr/>
          <p:nvPr/>
        </p:nvSpPr>
        <p:spPr>
          <a:xfrm>
            <a:off x="457200" y="960120"/>
            <a:ext cx="7452360" cy="36576"/>
          </a:xfrm>
          <a:prstGeom prst="rect">
            <a:avLst/>
          </a:prstGeom>
          <a:solidFill>
            <a:srgbClr val="DB4437"/>
          </a:solidFill>
          <a:ln>
            <a:noFill/>
          </a:ln>
        </p:spPr>
        <p:txBody>
          <a:bodyPr/>
          <a:lstStyle/>
          <a:p/>
        </p:txBody>
      </p:sp>
      <p:sp>
        <p:nvSpPr>
          <p:cNvPr id="12" name="Rect12"/>
          <p:cNvSpPr/>
          <p:nvPr/>
        </p:nvSpPr>
        <p:spPr>
          <a:xfrm>
            <a:off x="411480" y="1234440"/>
            <a:ext cx="54864" cy="777240"/>
          </a:xfrm>
          <a:prstGeom prst="rect">
            <a:avLst/>
          </a:prstGeom>
          <a:solidFill>
            <a:srgbClr val="DB4437"/>
          </a:solidFill>
          <a:ln>
            <a:noFill/>
          </a:ln>
        </p:spPr>
        <p:txBody>
          <a:bodyPr/>
          <a:lstStyle/>
          <a:p/>
        </p:txBody>
      </p:sp>
      <p:sp>
        <p:nvSpPr>
          <p:cNvPr id="13" name="Shape13"/>
          <p:cNvSpPr txBox="1"/>
          <p:nvPr/>
        </p:nvSpPr>
        <p:spPr>
          <a:xfrm>
            <a:off x="594360" y="123444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Fragmented banking channels</a:t>
            </a:r>
            <a:endParaRPr/>
          </a:p>
        </p:txBody>
      </p:sp>
      <p:sp>
        <p:nvSpPr>
          <p:cNvPr id="14" name="Shape14"/>
          <p:cNvSpPr txBox="1"/>
          <p:nvPr/>
        </p:nvSpPr>
        <p:spPr>
          <a:xfrm>
            <a:off x="594360" y="164592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Customers must navigate multiple apps, IVR systems, and branches to complete even simple tasks like checking limits or filing a dispute.</a:t>
            </a:r>
            <a:endParaRPr/>
          </a:p>
        </p:txBody>
      </p:sp>
      <p:sp>
        <p:nvSpPr>
          <p:cNvPr id="15" name="Rect15"/>
          <p:cNvSpPr/>
          <p:nvPr/>
        </p:nvSpPr>
        <p:spPr>
          <a:xfrm>
            <a:off x="411480" y="2286000"/>
            <a:ext cx="54864" cy="777240"/>
          </a:xfrm>
          <a:prstGeom prst="rect">
            <a:avLst/>
          </a:prstGeom>
          <a:solidFill>
            <a:srgbClr val="DB4437"/>
          </a:solidFill>
          <a:ln>
            <a:noFill/>
          </a:ln>
        </p:spPr>
        <p:txBody>
          <a:bodyPr/>
          <a:lstStyle/>
          <a:p/>
        </p:txBody>
      </p:sp>
      <p:sp>
        <p:nvSpPr>
          <p:cNvPr id="16" name="Shape16"/>
          <p:cNvSpPr txBox="1"/>
          <p:nvPr/>
        </p:nvSpPr>
        <p:spPr>
          <a:xfrm>
            <a:off x="594360" y="228600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Slow, manual document processing</a:t>
            </a:r>
            <a:endParaRPr/>
          </a:p>
        </p:txBody>
      </p:sp>
      <p:sp>
        <p:nvSpPr>
          <p:cNvPr id="17" name="Shape17"/>
          <p:cNvSpPr txBox="1"/>
          <p:nvPr/>
        </p:nvSpPr>
        <p:spPr>
          <a:xfrm>
            <a:off x="594360" y="269748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KYC verification and transaction dispute resolution rely on manual review, causing delays of 5–10 business days and poor customer experience.</a:t>
            </a:r>
            <a:endParaRPr/>
          </a:p>
        </p:txBody>
      </p:sp>
      <p:sp>
        <p:nvSpPr>
          <p:cNvPr id="18" name="Rect18"/>
          <p:cNvSpPr/>
          <p:nvPr/>
        </p:nvSpPr>
        <p:spPr>
          <a:xfrm>
            <a:off x="411480" y="3337560"/>
            <a:ext cx="54864" cy="777240"/>
          </a:xfrm>
          <a:prstGeom prst="rect">
            <a:avLst/>
          </a:prstGeom>
          <a:solidFill>
            <a:srgbClr val="DB4437"/>
          </a:solidFill>
          <a:ln>
            <a:noFill/>
          </a:ln>
        </p:spPr>
        <p:txBody>
          <a:bodyPr/>
          <a:lstStyle/>
          <a:p/>
        </p:txBody>
      </p:sp>
      <p:sp>
        <p:nvSpPr>
          <p:cNvPr id="19" name="Shape19"/>
          <p:cNvSpPr txBox="1"/>
          <p:nvPr/>
        </p:nvSpPr>
        <p:spPr>
          <a:xfrm>
            <a:off x="594360" y="333756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No intelligent personalisation</a:t>
            </a:r>
            <a:endParaRPr/>
          </a:p>
        </p:txBody>
      </p:sp>
      <p:sp>
        <p:nvSpPr>
          <p:cNvPr id="20" name="Shape20"/>
          <p:cNvSpPr txBox="1"/>
          <p:nvPr/>
        </p:nvSpPr>
        <p:spPr>
          <a:xfrm>
            <a:off x="594360" y="374904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Existing chatbots follow rigid scripts, cannot understand context, fail in regional languages, and cannot take autonomous actions on behalf of customers.</a:t>
            </a:r>
            <a:endParaRPr/>
          </a:p>
        </p:txBody>
      </p:sp>
      <p:sp>
        <p:nvSpPr>
          <p:cNvPr id="900" name="Rect900"/>
          <p:cNvSpPr/>
          <p:nvPr/>
        </p:nvSpPr>
        <p:spPr>
          <a:xfrm>
            <a:off x="0" y="5070348"/>
            <a:ext cx="9144000" cy="73152"/>
          </a:xfrm>
          <a:prstGeom prst="rect">
            <a:avLst/>
          </a:prstGeom>
          <a:solidFill>
            <a:srgbClr val="DB4437"/>
          </a:solidFill>
          <a:ln>
            <a:noFill/>
          </a:ln>
        </p:spPr>
        <p:txBody>
          <a:bodyPr/>
          <a:lstStyl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The Solution</a:t>
            </a:r>
            <a:endParaRPr/>
          </a:p>
        </p:txBody>
      </p:sp>
      <p:sp>
        <p:nvSpPr>
          <p:cNvPr id="11" name="Rect11"/>
          <p:cNvSpPr/>
          <p:nvPr/>
        </p:nvSpPr>
        <p:spPr>
          <a:xfrm>
            <a:off x="457200" y="960120"/>
            <a:ext cx="7452360" cy="36576"/>
          </a:xfrm>
          <a:prstGeom prst="rect">
            <a:avLst/>
          </a:prstGeom>
          <a:solidFill>
            <a:srgbClr val="0F9D58"/>
          </a:solidFill>
          <a:ln>
            <a:noFill/>
          </a:ln>
        </p:spPr>
        <p:txBody>
          <a:bodyPr/>
          <a:lstStyle/>
          <a:p/>
        </p:txBody>
      </p:sp>
      <p:sp>
        <p:nvSpPr>
          <p:cNvPr id="12" name="Rect12"/>
          <p:cNvSpPr/>
          <p:nvPr/>
        </p:nvSpPr>
        <p:spPr>
          <a:xfrm>
            <a:off x="411480" y="1234440"/>
            <a:ext cx="54864" cy="777240"/>
          </a:xfrm>
          <a:prstGeom prst="rect">
            <a:avLst/>
          </a:prstGeom>
          <a:solidFill>
            <a:srgbClr val="0F9D58"/>
          </a:solidFill>
          <a:ln>
            <a:noFill/>
          </a:ln>
        </p:spPr>
        <p:txBody>
          <a:bodyPr/>
          <a:lstStyle/>
          <a:p/>
        </p:txBody>
      </p:sp>
      <p:sp>
        <p:nvSpPr>
          <p:cNvPr id="13" name="Shape13"/>
          <p:cNvSpPr txBox="1"/>
          <p:nvPr/>
        </p:nvSpPr>
        <p:spPr>
          <a:xfrm>
            <a:off x="594360" y="123444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  Agentforce-powered banking AI agent</a:t>
            </a:r>
            <a:endParaRPr/>
          </a:p>
        </p:txBody>
      </p:sp>
      <p:sp>
        <p:nvSpPr>
          <p:cNvPr id="14" name="Shape14"/>
          <p:cNvSpPr txBox="1"/>
          <p:nvPr/>
        </p:nvSpPr>
        <p:spPr>
          <a:xfrm>
            <a:off x="594360" y="164592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An always-on AI agent deployed on Salesforce Agentforce that converses naturally, understands intent in English and Hindi, and autonomously executes banking workflows.</a:t>
            </a:r>
            <a:endParaRPr/>
          </a:p>
        </p:txBody>
      </p:sp>
      <p:sp>
        <p:nvSpPr>
          <p:cNvPr id="15" name="Rect15"/>
          <p:cNvSpPr/>
          <p:nvPr/>
        </p:nvSpPr>
        <p:spPr>
          <a:xfrm>
            <a:off x="411480" y="2286000"/>
            <a:ext cx="54864" cy="777240"/>
          </a:xfrm>
          <a:prstGeom prst="rect">
            <a:avLst/>
          </a:prstGeom>
          <a:solidFill>
            <a:srgbClr val="0F9D58"/>
          </a:solidFill>
          <a:ln>
            <a:noFill/>
          </a:ln>
        </p:spPr>
        <p:txBody>
          <a:bodyPr/>
          <a:lstStyle/>
          <a:p/>
        </p:txBody>
      </p:sp>
      <p:sp>
        <p:nvSpPr>
          <p:cNvPr id="16" name="Shape16"/>
          <p:cNvSpPr txBox="1"/>
          <p:nvPr/>
        </p:nvSpPr>
        <p:spPr>
          <a:xfrm>
            <a:off x="594360" y="228600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  AI document processing</a:t>
            </a:r>
            <a:endParaRPr/>
          </a:p>
        </p:txBody>
      </p:sp>
      <p:sp>
        <p:nvSpPr>
          <p:cNvPr id="17" name="Shape17"/>
          <p:cNvSpPr txBox="1"/>
          <p:nvPr/>
        </p:nvSpPr>
        <p:spPr>
          <a:xfrm>
            <a:off x="594360" y="269748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Document AI (IDP) instantly reads uploaded receipts, invoices, and KYC documents, extracts structured data, and triggers downstream processes — zero manual effort.</a:t>
            </a:r>
            <a:endParaRPr/>
          </a:p>
        </p:txBody>
      </p:sp>
      <p:sp>
        <p:nvSpPr>
          <p:cNvPr id="18" name="Rect18"/>
          <p:cNvSpPr/>
          <p:nvPr/>
        </p:nvSpPr>
        <p:spPr>
          <a:xfrm>
            <a:off x="411480" y="3337560"/>
            <a:ext cx="54864" cy="777240"/>
          </a:xfrm>
          <a:prstGeom prst="rect">
            <a:avLst/>
          </a:prstGeom>
          <a:solidFill>
            <a:srgbClr val="0F9D58"/>
          </a:solidFill>
          <a:ln>
            <a:noFill/>
          </a:ln>
        </p:spPr>
        <p:txBody>
          <a:bodyPr/>
          <a:lstStyle/>
          <a:p/>
        </p:txBody>
      </p:sp>
      <p:sp>
        <p:nvSpPr>
          <p:cNvPr id="19" name="Shape19"/>
          <p:cNvSpPr txBox="1"/>
          <p:nvPr/>
        </p:nvSpPr>
        <p:spPr>
          <a:xfrm>
            <a:off x="594360" y="3337560"/>
            <a:ext cx="7132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900" b="1">
                <a:solidFill>
                  <a:schemeClr val="lt1"/>
                </a:solidFill>
                <a:latin typeface="Roboto"/>
                <a:ea typeface="Roboto"/>
              </a:rPr>
              <a:t>⚡  End-to-end automation</a:t>
            </a:r>
            <a:endParaRPr/>
          </a:p>
        </p:txBody>
      </p:sp>
      <p:sp>
        <p:nvSpPr>
          <p:cNvPr id="20" name="Shape20"/>
          <p:cNvSpPr txBox="1"/>
          <p:nvPr/>
        </p:nvSpPr>
        <p:spPr>
          <a:xfrm>
            <a:off x="594360" y="3749040"/>
            <a:ext cx="7132320" cy="54864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CFD8DC"/>
                </a:solidFill>
                <a:latin typeface="Roboto"/>
                <a:ea typeface="Roboto"/>
              </a:rPr>
              <a:t>From dispute filing to balance enquiry, account statement generation, and KYC approval — all actions run through Salesforce Apex and Flow, fully automated and auditable.</a:t>
            </a:r>
            <a:endParaRPr/>
          </a:p>
        </p:txBody>
      </p:sp>
      <p:sp>
        <p:nvSpPr>
          <p:cNvPr id="900" name="Rect900"/>
          <p:cNvSpPr/>
          <p:nvPr/>
        </p:nvSpPr>
        <p:spPr>
          <a:xfrm>
            <a:off x="0" y="5070348"/>
            <a:ext cx="9144000" cy="73152"/>
          </a:xfrm>
          <a:prstGeom prst="rect">
            <a:avLst/>
          </a:prstGeom>
          <a:solidFill>
            <a:srgbClr val="0F9D58"/>
          </a:solidFill>
          <a:ln>
            <a:noFill/>
          </a:ln>
        </p:spPr>
        <p:txBody>
          <a:bodyPr/>
          <a:lstStyle/>
          <a:p/>
        </p:txBody>
      </p:sp>
    </p:spTree>
  </p:cSld>
  <p:clrMapOvr>
    <a:masterClrMapping/>
  </p:clrMapOvr>
</p:sld>
</file>

<file path=ppt/slides/slide10.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10" name="Shape10"/><p:cNvSpPr txBox="1"/><p:nvPr/></p:nvSpPr><p:spPr><a:xfrm><a:off x="457200" y="274320"/><a:ext cx="8229600" cy="5943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3200" b="1"><a:solidFill><a:schemeClr val="lt1"/></a:solidFill><a:latin typeface="Roboto"/><a:ea typeface="Roboto"/></a:rPr><a:t>The Technology:</a:t></a:r><a:endParaRPr/></a:p></p:txBody></p:sp><p:sp><p:nvSpPr><p:cNvPr id="11" name="Rect11"/><p:cNvSpPr/><p:nvPr/></p:nvSpPr><p:spPr><a:xfrm><a:off x="457200" y="960120"/><a:ext cx="7452360" cy="36576"/></a:xfrm><a:prstGeom prst="rect"><a:avLst/></a:prstGeom><a:solidFill><a:srgbClr val="F4B400"/></a:solidFill><a:ln><a:noFill/></a:ln></p:spPr><p:txBody><a:bodyPr/><a:lstStyle/><a:p/></p:txBody></p:sp><p:sp><p:nvSpPr><p:cNvPr id="20" name="Rect20"/><p:cNvSpPr/><p:nvPr/></p:nvSpPr><p:spPr><a:xfrm><a:off x="457200" y="1234440"/><a:ext cx="54864" cy="731520"/></a:xfrm><a:prstGeom prst="rect"><a:avLst/></a:prstGeom><a:solidFill><a:srgbClr val="F4B400"/></a:solidFill><a:ln><a:noFill/></a:ln></p:spPr><p:txBody><a:bodyPr/><a:lstStyle/><a:p/></p:txBody></p:sp><p:sp><p:nvSpPr><p:cNvPr id="30" name="Shape30"/><p:cNvSpPr txBox="1"/><p:nvPr/></p:nvSpPr><p:spPr><a:xfrm><a:off x="640080" y="123444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Agentforce (GenAI Planner)</a:t></a:r><a:endParaRPr/></a:p></p:txBody></p:sp><p:sp><p:nvSpPr><p:cNvPr id="40" name="Shape40"/><p:cNvSpPr txBox="1"/><p:nvPr/></p:nvSpPr><p:spPr><a:xfrm><a:off x="640080" y="161848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Autonomous AI agent with ReAct reasoning</a:t></a:r><a:endParaRPr/></a:p></p:txBody></p:sp><p:sp><p:nvSpPr><p:cNvPr id="21" name="Rect21"/><p:cNvSpPr/><p:nvPr/></p:nvSpPr><p:spPr><a:xfrm><a:off x="457200" y="2240280"/><a:ext cx="54864" cy="731520"/></a:xfrm><a:prstGeom prst="rect"><a:avLst/></a:prstGeom><a:solidFill><a:srgbClr val="F4B400"/></a:solidFill><a:ln><a:noFill/></a:ln></p:spPr><p:txBody><a:bodyPr/><a:lstStyle/><a:p/></p:txBody></p:sp><p:sp><p:nvSpPr><p:cNvPr id="31" name="Shape31"/><p:cNvSpPr txBox="1"/><p:nvPr/></p:nvSpPr><p:spPr><a:xfrm><a:off x="640080" y="224028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Salesforce Service Cloud</a:t></a:r><a:endParaRPr/></a:p></p:txBody></p:sp><p:sp><p:nvSpPr><p:cNvPr id="41" name="Shape41"/><p:cNvSpPr txBox="1"/><p:nvPr/></p:nvSpPr><p:spPr><a:xfrm><a:off x="640080" y="262432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Core CRM, Case Management, Omnichannel</a:t></a:r><a:endParaRPr/></a:p></p:txBody></p:sp><p:sp><p:nvSpPr><p:cNvPr id="22" name="Rect22"/><p:cNvSpPr/><p:nvPr/></p:nvSpPr><p:spPr><a:xfrm><a:off x="457200" y="3246120"/><a:ext cx="54864" cy="731520"/></a:xfrm><a:prstGeom prst="rect"><a:avLst/></a:prstGeom><a:solidFill><a:srgbClr val="F4B400"/></a:solidFill><a:ln><a:noFill/></a:ln></p:spPr><p:txBody><a:bodyPr/><a:lstStyle/><a:p/></p:txBody></p:sp><p:sp><p:nvSpPr><p:cNvPr id="32" name="Shape32"/><p:cNvSpPr txBox="1"/><p:nvPr/></p:nvSpPr><p:spPr><a:xfrm><a:off x="640080" y="324612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Document AI / IDP</a:t></a:r><a:endParaRPr/></a:p></p:txBody></p:sp><p:sp><p:nvSpPr><p:cNvPr id="42" name="Shape42"/><p:cNvSpPr txBox="1"/><p:nvPr/></p:nvSpPr><p:spPr><a:xfrm><a:off x="640080" y="363016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PDF extraction, KYC & receipt processing</a:t></a:r><a:endParaRPr/></a:p></p:txBody></p:sp><p:sp><p:nvSpPr><p:cNvPr id="30" name="Rect30"/><p:cNvSpPr/><p:nvPr/></p:nvSpPr><p:spPr><a:xfrm><a:off x="4663440" y="1234440"/><a:ext cx="54864" cy="731520"/></a:xfrm><a:prstGeom prst="rect"><a:avLst/></a:prstGeom><a:solidFill><a:srgbClr val="F4B400"/></a:solidFill><a:ln><a:noFill/></a:ln></p:spPr><p:txBody><a:bodyPr/><a:lstStyle/><a:p/></p:txBody></p:sp><p:sp><p:nvSpPr><p:cNvPr id="40" name="Shape40"/><p:cNvSpPr txBox="1"/><p:nvPr/></p:nvSpPr><p:spPr><a:xfrm><a:off x="4846320" y="123444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Apex & Flows</a:t></a:r><a:endParaRPr/></a:p></p:txBody></p:sp><p:sp><p:nvSpPr><p:cNvPr id="50" name="Shape50"/><p:cNvSpPr txBox="1"/><p:nvPr/></p:nvSpPr><p:spPr><a:xfrm><a:off x="4846320" y="161848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Transaction processing, dispute filing, account ops</a:t></a:r><a:endParaRPr/></a:p></p:txBody></p:sp><p:sp><p:nvSpPr><p:cNvPr id="31" name="Rect31"/><p:cNvSpPr/><p:nvPr/></p:nvSpPr><p:spPr><a:xfrm><a:off x="4663440" y="2240280"/><a:ext cx="54864" cy="731520"/></a:xfrm><a:prstGeom prst="rect"><a:avLst/></a:prstGeom><a:solidFill><a:srgbClr val="F4B400"/></a:solidFill><a:ln><a:noFill/></a:ln></p:spPr><p:txBody><a:bodyPr/><a:lstStyle/><a:p/></p:txBody></p:sp><p:sp><p:nvSpPr><p:cNvPr id="41" name="Shape41"/><p:cNvSpPr txBox="1"/><p:nvPr/></p:nvSpPr><p:spPr><a:xfrm><a:off x="4846320" y="224028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Experience Cloud</a:t></a:r><a:endParaRPr/></a:p></p:txBody></p:sp><p:sp><p:nvSpPr><p:cNvPr id="51" name="Shape51"/><p:cNvSpPr txBox="1"/><p:nvPr/></p:nvSpPr><p:spPr><a:xfrm><a:off x="4846320" y="262432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Customer portal & chat interface</a:t></a:r><a:endParaRPr/></a:p></p:txBody></p:sp><p:sp><p:nvSpPr><p:cNvPr id="32" name="Rect32"/><p:cNvSpPr/><p:nvPr/></p:nvSpPr><p:spPr><a:xfrm><a:off x="4663440" y="3246120"/><a:ext cx="54864" cy="731520"/></a:xfrm><a:prstGeom prst="rect"><a:avLst/></a:prstGeom><a:solidFill><a:srgbClr val="F4B400"/></a:solidFill><a:ln><a:noFill/></a:ln></p:spPr><p:txBody><a:bodyPr/><a:lstStyle/><a:p/></p:txBody></p:sp><p:sp><p:nvSpPr><p:cNvPr id="42" name="Shape42"/><p:cNvSpPr txBox="1"/><p:nvPr/></p:nvSpPr><p:spPr><a:xfrm><a:off x="4846320" y="3246120"/><a:ext cx="3657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LWC</a:t></a:r><a:endParaRPr/></a:p></p:txBody></p:sp><p:sp><p:nvSpPr><p:cNvPr id="52" name="Shape52"/><p:cNvSpPr txBox="1"/><p:nvPr/></p:nvSpPr><p:spPr><a:xfrm><a:off x="4846320" y="3630168"/><a:ext cx="3657600" cy="365760"/></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B0BEC5"/></a:solidFill><a:latin typeface="Roboto"/><a:ea typeface="Roboto"/></a:rPr><a:t>Custom UI components for banking dashboard</a:t></a:r><a:endParaRPr/></a:p></p:txBody></p:sp><p:sp><p:nvSpPr><p:cNvPr id="900" name="Rect900"/><p:cNvSpPr/><p:nvPr/></p:nvSpPr><p:spPr><a:xfrm><a:off x="0" y="5070348"/><a:ext cx="9144000" cy="73152"/></a:xfrm><a:prstGeom prst="rect"><a:avLst/></a:prstGeom><a:solidFill><a:srgbClr val="F4B400"/></a:solidFill><a:ln><a:noFill/></a:ln></p:spPr><p:txBody><a:bodyPr/><a:lstStyle/><a:p/></p:txBody></p:sp></p:spTree></p:cSld><p:clrMapOvr><a:masterClrMapping/></p:clrMapOvr></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How It Works</a:t>
            </a:r>
            <a:endParaRPr/>
          </a:p>
        </p:txBody>
      </p:sp>
      <p:sp>
        <p:nvSpPr>
          <p:cNvPr id="11" name="Rect11"/>
          <p:cNvSpPr/>
          <p:nvPr/>
        </p:nvSpPr>
        <p:spPr>
          <a:xfrm>
            <a:off x="457200" y="960120"/>
            <a:ext cx="7452360" cy="36576"/>
          </a:xfrm>
          <a:prstGeom prst="rect">
            <a:avLst/>
          </a:prstGeom>
          <a:solidFill>
            <a:srgbClr val="4FC3F7"/>
          </a:solidFill>
          <a:ln>
            <a:noFill/>
          </a:ln>
        </p:spPr>
        <p:txBody>
          <a:bodyPr/>
          <a:lstStyle/>
          <a:p/>
        </p:txBody>
      </p:sp>
      <p:sp>
        <p:nvSpPr>
          <p:cNvPr id="20" name="Rect20"/>
          <p:cNvSpPr/>
          <p:nvPr/>
        </p:nvSpPr>
        <p:spPr>
          <a:xfrm>
            <a:off x="411480" y="1234440"/>
            <a:ext cx="914400" cy="777240"/>
          </a:xfrm>
          <a:prstGeom prst="rect">
            <a:avLst/>
          </a:prstGeom>
          <a:solidFill>
            <a:srgbClr val="1976D2"/>
          </a:solidFill>
          <a:ln>
            <a:noFill/>
          </a:ln>
        </p:spPr>
        <p:txBody>
          <a:bodyPr/>
          <a:lstStyle/>
          <a:p/>
        </p:txBody>
      </p:sp>
      <p:sp>
        <p:nvSpPr>
          <p:cNvPr id="21" name="Shape21"/>
          <p:cNvSpPr txBox="1"/>
          <p:nvPr/>
        </p:nvSpPr>
        <p:spPr>
          <a:xfrm>
            <a:off x="411480" y="1234440"/>
            <a:ext cx="91440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b="1">
                <a:solidFill>
                  <a:srgbClr val="4FC3F7"/>
                </a:solidFill>
                <a:latin typeface="Roboto"/>
                <a:ea typeface="Roboto"/>
              </a:rPr>
              <a:t>Step 1</a:t>
            </a:r>
            <a:endParaRPr/>
          </a:p>
        </p:txBody>
      </p:sp>
      <p:sp>
        <p:nvSpPr>
          <p:cNvPr id="22" name="Shape22"/>
          <p:cNvSpPr txBox="1"/>
          <p:nvPr/>
        </p:nvSpPr>
        <p:spPr>
          <a:xfrm>
            <a:off x="1463040" y="1234440"/>
            <a:ext cx="2560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Customer initiates via chat</a:t>
            </a:r>
            <a:endParaRPr/>
          </a:p>
        </p:txBody>
      </p:sp>
      <p:sp>
        <p:nvSpPr>
          <p:cNvPr id="23" name="Shape23"/>
          <p:cNvSpPr txBox="1"/>
          <p:nvPr/>
        </p:nvSpPr>
        <p:spPr>
          <a:xfrm>
            <a:off x="1463040" y="1636776"/>
            <a:ext cx="6309360" cy="53035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FD8DC"/>
                </a:solidFill>
                <a:latin typeface="Roboto"/>
                <a:ea typeface="Roboto"/>
              </a:rPr>
              <a:t>Agentforce AI Agent greets the customer on Experience Cloud chat, detects intent (balance, dispute, KYC, statement), and creates or updates a Salesforce Case.</a:t>
            </a:r>
            <a:endParaRPr/>
          </a:p>
        </p:txBody>
      </p:sp>
      <p:sp>
        <p:nvSpPr>
          <p:cNvPr id="24" name="Rect24"/>
          <p:cNvSpPr/>
          <p:nvPr/>
        </p:nvSpPr>
        <p:spPr>
          <a:xfrm>
            <a:off x="411480" y="2286000"/>
            <a:ext cx="914400" cy="777240"/>
          </a:xfrm>
          <a:prstGeom prst="rect">
            <a:avLst/>
          </a:prstGeom>
          <a:solidFill>
            <a:srgbClr val="1976D2"/>
          </a:solidFill>
          <a:ln>
            <a:noFill/>
          </a:ln>
        </p:spPr>
        <p:txBody>
          <a:bodyPr/>
          <a:lstStyle/>
          <a:p/>
        </p:txBody>
      </p:sp>
      <p:sp>
        <p:nvSpPr>
          <p:cNvPr id="25" name="Shape25"/>
          <p:cNvSpPr txBox="1"/>
          <p:nvPr/>
        </p:nvSpPr>
        <p:spPr>
          <a:xfrm>
            <a:off x="411480" y="2286000"/>
            <a:ext cx="91440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b="1">
                <a:solidFill>
                  <a:srgbClr val="4FC3F7"/>
                </a:solidFill>
                <a:latin typeface="Roboto"/>
                <a:ea typeface="Roboto"/>
              </a:rPr>
              <a:t>Step 2</a:t>
            </a:r>
            <a:endParaRPr/>
          </a:p>
        </p:txBody>
      </p:sp>
      <p:sp>
        <p:nvSpPr>
          <p:cNvPr id="26" name="Shape26"/>
          <p:cNvSpPr txBox="1"/>
          <p:nvPr/>
        </p:nvSpPr>
        <p:spPr>
          <a:xfrm>
            <a:off x="1463040" y="2286000"/>
            <a:ext cx="2560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Intelligent action dispatch</a:t>
            </a:r>
            <a:endParaRPr/>
          </a:p>
        </p:txBody>
      </p:sp>
      <p:sp>
        <p:nvSpPr>
          <p:cNvPr id="27" name="Shape27"/>
          <p:cNvSpPr txBox="1"/>
          <p:nvPr/>
        </p:nvSpPr>
        <p:spPr>
          <a:xfrm>
            <a:off x="1463040" y="2688336"/>
            <a:ext cx="6309360" cy="53035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FD8DC"/>
                </a:solidFill>
                <a:latin typeface="Roboto"/>
                <a:ea typeface="Roboto"/>
              </a:rPr>
              <a:t>The GenAI Planner selects the right Apex action (GetAccountBalance, FileDispute, ProcessDocumentAI) using ReAct reasoning and executes it with customer data.</a:t>
            </a:r>
            <a:endParaRPr/>
          </a:p>
        </p:txBody>
      </p:sp>
      <p:sp>
        <p:nvSpPr>
          <p:cNvPr id="28" name="Rect28"/>
          <p:cNvSpPr/>
          <p:nvPr/>
        </p:nvSpPr>
        <p:spPr>
          <a:xfrm>
            <a:off x="411480" y="3337560"/>
            <a:ext cx="914400" cy="777240"/>
          </a:xfrm>
          <a:prstGeom prst="rect">
            <a:avLst/>
          </a:prstGeom>
          <a:solidFill>
            <a:srgbClr val="1976D2"/>
          </a:solidFill>
          <a:ln>
            <a:noFill/>
          </a:ln>
        </p:spPr>
        <p:txBody>
          <a:bodyPr/>
          <a:lstStyle/>
          <a:p/>
        </p:txBody>
      </p:sp>
      <p:sp>
        <p:nvSpPr>
          <p:cNvPr id="29" name="Shape29"/>
          <p:cNvSpPr txBox="1"/>
          <p:nvPr/>
        </p:nvSpPr>
        <p:spPr>
          <a:xfrm>
            <a:off x="411480" y="3337560"/>
            <a:ext cx="91440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b="1">
                <a:solidFill>
                  <a:srgbClr val="4FC3F7"/>
                </a:solidFill>
                <a:latin typeface="Roboto"/>
                <a:ea typeface="Roboto"/>
              </a:rPr>
              <a:t>Step 3</a:t>
            </a:r>
            <a:endParaRPr/>
          </a:p>
        </p:txBody>
      </p:sp>
      <p:sp>
        <p:nvSpPr>
          <p:cNvPr id="30" name="Shape30"/>
          <p:cNvSpPr txBox="1"/>
          <p:nvPr/>
        </p:nvSpPr>
        <p:spPr>
          <a:xfrm>
            <a:off x="1463040" y="3337560"/>
            <a:ext cx="2560320" cy="384048"/>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800" b="1">
                <a:solidFill>
                  <a:schemeClr val="lt1"/>
                </a:solidFill>
                <a:latin typeface="Roboto"/>
                <a:ea typeface="Roboto"/>
              </a:rPr>
              <a:t>Document AI triggered on upload</a:t>
            </a:r>
            <a:endParaRPr/>
          </a:p>
        </p:txBody>
      </p:sp>
      <p:sp>
        <p:nvSpPr>
          <p:cNvPr id="31" name="Shape31"/>
          <p:cNvSpPr txBox="1"/>
          <p:nvPr/>
        </p:nvSpPr>
        <p:spPr>
          <a:xfrm>
            <a:off x="1463040" y="3739896"/>
            <a:ext cx="6309360" cy="530352"/>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CFD8DC"/>
                </a:solidFill>
                <a:latin typeface="Roboto"/>
                <a:ea typeface="Roboto"/>
              </a:rPr>
              <a:t>When customer uploads a PDF (receipt / ID), the agent immediately calls Document AI Universal Extractor, parses structured fields, and populates the Case record.</a:t>
            </a:r>
            <a:endParaRPr/>
          </a:p>
        </p:txBody>
      </p:sp>
      <p:sp>
        <p:nvSpPr>
          <p:cNvPr id="900" name="Rect900"/>
          <p:cNvSpPr/>
          <p:nvPr/>
        </p:nvSpPr>
        <p:spPr>
          <a:xfrm>
            <a:off x="0" y="5070348"/>
            <a:ext cx="9144000" cy="73152"/>
          </a:xfrm>
          <a:prstGeom prst="rect">
            <a:avLst/>
          </a:prstGeom>
          <a:solidFill>
            <a:srgbClr val="4FC3F7"/>
          </a:solidFill>
          <a:ln>
            <a:noFill/>
          </a:ln>
        </p:spPr>
        <p:txBody>
          <a:bodyPr/>
          <a:lstStyle/>
          <a:p/>
        </p:txBody>
      </p:sp>
    </p:spTree>
  </p:cSld>
  <p:clrMapOvr>
    <a:masterClrMapping/>
  </p:clrMapOvr>
</p:sld>
</file>

<file path=ppt/slides/slide12.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10" name="Shape10"/><p:cNvSpPr txBox="1"/><p:nvPr/></p:nvSpPr><p:spPr><a:xfrm><a:off x="457200" y="274320"/><a:ext cx="8229600" cy="5943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3200" b="1"><a:solidFill><a:schemeClr val="lt1"/></a:solidFill><a:latin typeface="Roboto"/><a:ea typeface="Roboto"/></a:rPr><a:t>How It Works</a:t></a:r><a:endParaRPr/></a:p></p:txBody></p:sp><p:sp><p:nvSpPr><p:cNvPr id="11" name="Rect11"/><p:cNvSpPr/><p:nvPr/></p:nvSpPr><p:spPr><a:xfrm><a:off x="457200" y="960120"/><a:ext cx="7452360" cy="36576"/></a:xfrm><a:prstGeom prst="rect"><a:avLst/></a:prstGeom><a:solidFill><a:srgbClr val="4FC3F7"/></a:solidFill><a:ln><a:noFill/></a:ln></p:spPr><p:txBody><a:bodyPr/><a:lstStyle/><a:p/></p:txBody></p:sp><p:sp><p:nvSpPr><p:cNvPr id="20" name="Rect20"/><p:cNvSpPr/><p:nvPr/></p:nvSpPr><p:spPr><a:xfrm><a:off x="411480" y="1234440"/><a:ext cx="914400" cy="777240"/></a:xfrm><a:prstGeom prst="rect"><a:avLst/></a:prstGeom><a:solidFill><a:srgbClr val="1976D2"/></a:solidFill><a:ln><a:noFill/></a:ln></p:spPr><p:txBody><a:bodyPr/><a:lstStyle/><a:p/></p:txBody></p:sp><p:sp><p:nvSpPr><p:cNvPr id="21" name="Shape21"/><p:cNvSpPr txBox="1"/><p:nvPr/></p:nvSpPr><p:spPr><a:xfrm><a:off x="411480" y="1234440"/><a:ext cx="914400" cy="7772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500" b="1"><a:solidFill><a:srgbClr val="4FC3F7"/></a:solidFill><a:latin typeface="Roboto"/><a:ea typeface="Roboto"/></a:rPr><a:t>Step 4</a:t></a:r><a:endParaRPr/></a:p></p:txBody></p:sp><p:sp><p:nvSpPr><p:cNvPr id="22" name="Shape22"/><p:cNvSpPr txBox="1"/><p:nvPr/></p:nvSpPr><p:spPr><a:xfrm><a:off x="1463040" y="1234440"/><a:ext cx="2560320" cy="384048"/></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Multilingual response delivery</a:t></a:r><a:endParaRPr/></a:p></p:txBody></p:sp><p:sp><p:nvSpPr><p:cNvPr id="23" name="Shape23"/><p:cNvSpPr txBox="1"/><p:nvPr/></p:nvSpPr><p:spPr><a:xfrm><a:off x="1463040" y="1636776"/><a:ext cx="6309360" cy="530352"/></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CFD8DC"/></a:solidFill><a:latin typeface="Roboto"/><a:ea typeface="Roboto"/></a:rPr><a:t>The agent responds in English or Hindi based on customer preference. All responses are grounded in live Salesforce data — account balance, transaction history, dispute status.</a:t></a:r><a:endParaRPr/></a:p></p:txBody></p:sp><p:sp><p:nvSpPr><p:cNvPr id="24" name="Rect24"/><p:cNvSpPr/><p:nvPr/></p:nvSpPr><p:spPr><a:xfrm><a:off x="411480" y="2286000"/><a:ext cx="914400" cy="777240"/></a:xfrm><a:prstGeom prst="rect"><a:avLst/></a:prstGeom><a:solidFill><a:srgbClr val="1976D2"/></a:solidFill><a:ln><a:noFill/></a:ln></p:spPr><p:txBody><a:bodyPr/><a:lstStyle/><a:p/></p:txBody></p:sp><p:sp><p:nvSpPr><p:cNvPr id="25" name="Shape25"/><p:cNvSpPr txBox="1"/><p:nvPr/></p:nvSpPr><p:spPr><a:xfrm><a:off x="411480" y="2286000"/><a:ext cx="914400" cy="7772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500" b="1"><a:solidFill><a:srgbClr val="4FC3F7"/></a:solidFill><a:latin typeface="Roboto"/><a:ea typeface="Roboto"/></a:rPr><a:t>Step 5</a:t></a:r><a:endParaRPr/></a:p></p:txBody></p:sp><p:sp><p:nvSpPr><p:cNvPr id="26" name="Shape26"/><p:cNvSpPr txBox="1"/><p:nvPr/></p:nvSpPr><p:spPr><a:xfrm><a:off x="1463040" y="2286000"/><a:ext cx="2560320" cy="384048"/></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Autonomous dispute & KYC resolution</a:t></a:r><a:endParaRPr/></a:p></p:txBody></p:sp><p:sp><p:nvSpPr><p:cNvPr id="27" name="Shape27"/><p:cNvSpPr txBox="1"/><p:nvPr/></p:nvSpPr><p:spPr><a:xfrm><a:off x="1463040" y="2688336"/><a:ext cx="6309360" cy="530352"/></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CFD8DC"/></a:solidFill><a:latin typeface="Roboto"/><a:ea typeface="Roboto"/></a:rPr><a:t>For disputes: agent asks for receipt → extracts amount via Document AI → files Case with one Apex call. For KYC: extracts ID fields → updates Contact record → triggers approval Flow.</a:t></a:r><a:endParaRPr/></a:p></p:txBody></p:sp><p:sp><p:nvSpPr><p:cNvPr id="28" name="Rect28"/><p:cNvSpPr/><p:nvPr/></p:nvSpPr><p:spPr><a:xfrm><a:off x="411480" y="3337560"/><a:ext cx="914400" cy="777240"/></a:xfrm><a:prstGeom prst="rect"><a:avLst/></a:prstGeom><a:solidFill><a:srgbClr val="1976D2"/></a:solidFill><a:ln><a:noFill/></a:ln></p:spPr><p:txBody><a:bodyPr/><a:lstStyle/><a:p/></p:txBody></p:sp><p:sp><p:nvSpPr><p:cNvPr id="29" name="Shape29"/><p:cNvSpPr txBox="1"/><p:nvPr/></p:nvSpPr><p:spPr><a:xfrm><a:off x="411480" y="3337560"/><a:ext cx="914400" cy="7772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500" b="1"><a:solidFill><a:srgbClr val="4FC3F7"/></a:solidFill><a:latin typeface="Roboto"/><a:ea typeface="Roboto"/></a:rPr><a:t>Step 6</a:t></a:r><a:endParaRPr/></a:p></p:txBody></p:sp><p:sp><p:nvSpPr><p:cNvPr id="30" name="Shape30"/><p:cNvSpPr txBox="1"/><p:nvPr/></p:nvSpPr><p:spPr><a:xfrm><a:off x="1463040" y="3337560"/><a:ext cx="2560320" cy="384048"/></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1800" b="1"><a:solidFill><a:schemeClr val="lt1"/></a:solidFill><a:latin typeface="Roboto"/><a:ea typeface="Roboto"/></a:rPr><a:t>Escalation & human handoff</a:t></a:r><a:endParaRPr/></a:p></p:txBody></p:sp><p:sp><p:nvSpPr><p:cNvPr id="31" name="Shape31"/><p:cNvSpPr txBox="1"/><p:nvPr/></p:nvSpPr><p:spPr><a:xfrm><a:off x="1463040" y="3739896"/><a:ext cx="6309360" cy="530352"/></a:xfrm><a:prstGeom prst="rect"><a:avLst/></a:prstGeom><a:noFill/><a:ln><a:noFill/></a:ln></p:spPr><p:txBody><a:bodyPr anchorCtr="0" anchor="t" bIns="91425" lIns="91425" spcFirstLastPara="1" rIns="91425" wrap="square" tIns="91425"><a:noAutofit/></a:bodyPr><a:lstStyle/><a:p><a:pPr indent="0" lvl="0" marL="0" rtl="0" algn="l"><a:spcBef><a:spcPts val="0"/></a:spcBef><a:spcAft><a:spcPts val="0"/></a:spcAft><a:buNone/></a:pPr><a:r><a:rPr lang="en" sz="1500"><a:solidFill><a:srgbClr val="CFD8DC"/></a:solidFill><a:latin typeface="Roboto"/><a:ea typeface="Roboto"/></a:rPr><a:t>For complex issues the agent creates a priority Case, assigns to a human agent via Omnichannel routing, and sends an automated summary email — fully logged and auditable.</a:t></a:r><a:endParaRPr/></a:p></p:txBody></p:sp><p:sp><p:nvSpPr><p:cNvPr id="900" name="Rect900"/><p:cNvSpPr/><p:nvPr/></p:nvSpPr><p:spPr><a:xfrm><a:off x="0" y="5070348"/><a:ext cx="9144000" cy="73152"/></a:xfrm><a:prstGeom prst="rect"><a:avLst/></a:prstGeom><a:solidFill><a:srgbClr val="4FC3F7"/></a:solidFill><a:ln><a:noFill/></a:ln></p:spPr><p:txBody><a:bodyPr/><a:lstStyle/><a:p/></p:txBody></p:sp></p:spTree></p:cSld><p:clrMapOvr><a:masterClrMapping/></p:clrMapOvr></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200" b="1">
                <a:solidFill>
                  <a:schemeClr val="lt1"/>
                </a:solidFill>
                <a:latin typeface="Roboto"/>
                <a:ea typeface="Roboto"/>
              </a:rPr>
              <a:t>Business Benefits:</a:t>
            </a:r>
            <a:endParaRPr/>
          </a:p>
        </p:txBody>
      </p:sp>
      <p:sp>
        <p:nvSpPr>
          <p:cNvPr id="11" name="Rect11"/>
          <p:cNvSpPr/>
          <p:nvPr/>
        </p:nvSpPr>
        <p:spPr>
          <a:xfrm>
            <a:off x="457200" y="960120"/>
            <a:ext cx="7452360" cy="36576"/>
          </a:xfrm>
          <a:prstGeom prst="rect">
            <a:avLst/>
          </a:prstGeom>
          <a:solidFill>
            <a:srgbClr val="0F9D58"/>
          </a:solidFill>
          <a:ln>
            <a:noFill/>
          </a:ln>
        </p:spPr>
        <p:txBody>
          <a:bodyPr/>
          <a:lstStyle/>
          <a:p/>
        </p:txBody>
      </p:sp>
      <p:sp>
        <p:nvSpPr>
          <p:cNvPr id="20" name="Rect20"/>
          <p:cNvSpPr/>
          <p:nvPr/>
        </p:nvSpPr>
        <p:spPr>
          <a:xfrm>
            <a:off x="411480" y="1371600"/>
            <a:ext cx="457200" cy="457200"/>
          </a:xfrm>
          <a:prstGeom prst="rect">
            <a:avLst/>
          </a:prstGeom>
          <a:solidFill>
            <a:srgbClr val="0F9D58"/>
          </a:solidFill>
          <a:ln>
            <a:noFill/>
          </a:ln>
        </p:spPr>
        <p:txBody>
          <a:bodyPr/>
          <a:lstStyle/>
          <a:p/>
        </p:txBody>
      </p:sp>
      <p:sp>
        <p:nvSpPr>
          <p:cNvPr id="30" name="Shape30"/>
          <p:cNvSpPr txBox="1"/>
          <p:nvPr/>
        </p:nvSpPr>
        <p:spPr>
          <a:xfrm>
            <a:off x="411480" y="1353312"/>
            <a:ext cx="457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b="1">
                <a:solidFill>
                  <a:srgbClr val="000000"/>
                </a:solidFill>
                <a:latin typeface="Roboto"/>
                <a:ea typeface="Roboto"/>
              </a:rPr>
              <a:t>1</a:t>
            </a:r>
            <a:endParaRPr/>
          </a:p>
        </p:txBody>
      </p:sp>
      <p:sp>
        <p:nvSpPr>
          <p:cNvPr id="40" name="Shape40"/>
          <p:cNvSpPr txBox="1"/>
          <p:nvPr/>
        </p:nvSpPr>
        <p:spPr>
          <a:xfrm>
            <a:off x="1005840" y="1188720"/>
            <a:ext cx="704088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rPr>
              <a:t>Reduce dispute resolution time from 5–10 days to under 5 minutes with AI-driven Document AI automation.</a:t>
            </a:r>
            <a:endParaRPr/>
          </a:p>
        </p:txBody>
      </p:sp>
      <p:sp>
        <p:nvSpPr>
          <p:cNvPr id="21" name="Rect21"/>
          <p:cNvSpPr/>
          <p:nvPr/>
        </p:nvSpPr>
        <p:spPr>
          <a:xfrm>
            <a:off x="411480" y="2194560"/>
            <a:ext cx="457200" cy="457200"/>
          </a:xfrm>
          <a:prstGeom prst="rect">
            <a:avLst/>
          </a:prstGeom>
          <a:solidFill>
            <a:srgbClr val="0F9D58"/>
          </a:solidFill>
          <a:ln>
            <a:noFill/>
          </a:ln>
        </p:spPr>
        <p:txBody>
          <a:bodyPr/>
          <a:lstStyle/>
          <a:p/>
        </p:txBody>
      </p:sp>
      <p:sp>
        <p:nvSpPr>
          <p:cNvPr id="31" name="Shape31"/>
          <p:cNvSpPr txBox="1"/>
          <p:nvPr/>
        </p:nvSpPr>
        <p:spPr>
          <a:xfrm>
            <a:off x="411480" y="2176272"/>
            <a:ext cx="457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b="1">
                <a:solidFill>
                  <a:srgbClr val="000000"/>
                </a:solidFill>
                <a:latin typeface="Roboto"/>
                <a:ea typeface="Roboto"/>
              </a:rPr>
              <a:t>2</a:t>
            </a:r>
            <a:endParaRPr/>
          </a:p>
        </p:txBody>
      </p:sp>
      <p:sp>
        <p:nvSpPr>
          <p:cNvPr id="41" name="Shape41"/>
          <p:cNvSpPr txBox="1"/>
          <p:nvPr/>
        </p:nvSpPr>
        <p:spPr>
          <a:xfrm>
            <a:off x="1005840" y="2011680"/>
            <a:ext cx="704088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rPr>
              <a:t>Eliminate 70% of routine call centre load — balance enquiries, statements, and KYC handled entirely by the AI agent.</a:t>
            </a:r>
            <a:endParaRPr/>
          </a:p>
        </p:txBody>
      </p:sp>
      <p:sp>
        <p:nvSpPr>
          <p:cNvPr id="22" name="Rect22"/>
          <p:cNvSpPr/>
          <p:nvPr/>
        </p:nvSpPr>
        <p:spPr>
          <a:xfrm>
            <a:off x="411480" y="3017520"/>
            <a:ext cx="457200" cy="457200"/>
          </a:xfrm>
          <a:prstGeom prst="rect">
            <a:avLst/>
          </a:prstGeom>
          <a:solidFill>
            <a:srgbClr val="0F9D58"/>
          </a:solidFill>
          <a:ln>
            <a:noFill/>
          </a:ln>
        </p:spPr>
        <p:txBody>
          <a:bodyPr/>
          <a:lstStyle/>
          <a:p/>
        </p:txBody>
      </p:sp>
      <p:sp>
        <p:nvSpPr>
          <p:cNvPr id="32" name="Shape32"/>
          <p:cNvSpPr txBox="1"/>
          <p:nvPr/>
        </p:nvSpPr>
        <p:spPr>
          <a:xfrm>
            <a:off x="411480" y="2999232"/>
            <a:ext cx="457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b="1">
                <a:solidFill>
                  <a:srgbClr val="000000"/>
                </a:solidFill>
                <a:latin typeface="Roboto"/>
                <a:ea typeface="Roboto"/>
              </a:rPr>
              <a:t>3</a:t>
            </a:r>
            <a:endParaRPr/>
          </a:p>
        </p:txBody>
      </p:sp>
      <p:sp>
        <p:nvSpPr>
          <p:cNvPr id="42" name="Shape42"/>
          <p:cNvSpPr txBox="1"/>
          <p:nvPr/>
        </p:nvSpPr>
        <p:spPr>
          <a:xfrm>
            <a:off x="1005840" y="2834640"/>
            <a:ext cx="704088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rPr>
              <a:t>Personalised, AI-driven customer experience with multilingual support (English + Hindi) and 24 × 7 availability.</a:t>
            </a:r>
            <a:endParaRPr/>
          </a:p>
        </p:txBody>
      </p:sp>
      <p:sp>
        <p:nvSpPr>
          <p:cNvPr id="23" name="Rect23"/>
          <p:cNvSpPr/>
          <p:nvPr/>
        </p:nvSpPr>
        <p:spPr>
          <a:xfrm>
            <a:off x="411480" y="3840480"/>
            <a:ext cx="457200" cy="457200"/>
          </a:xfrm>
          <a:prstGeom prst="rect">
            <a:avLst/>
          </a:prstGeom>
          <a:solidFill>
            <a:srgbClr val="0F9D58"/>
          </a:solidFill>
          <a:ln>
            <a:noFill/>
          </a:ln>
        </p:spPr>
        <p:txBody>
          <a:bodyPr/>
          <a:lstStyle/>
          <a:p/>
        </p:txBody>
      </p:sp>
      <p:sp>
        <p:nvSpPr>
          <p:cNvPr id="33" name="Shape33"/>
          <p:cNvSpPr txBox="1"/>
          <p:nvPr/>
        </p:nvSpPr>
        <p:spPr>
          <a:xfrm>
            <a:off x="411480" y="3822192"/>
            <a:ext cx="4572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b="1">
                <a:solidFill>
                  <a:srgbClr val="000000"/>
                </a:solidFill>
                <a:latin typeface="Roboto"/>
                <a:ea typeface="Roboto"/>
              </a:rPr>
              <a:t>4</a:t>
            </a:r>
            <a:endParaRPr/>
          </a:p>
        </p:txBody>
      </p:sp>
      <p:sp>
        <p:nvSpPr>
          <p:cNvPr id="43" name="Shape43"/>
          <p:cNvSpPr txBox="1"/>
          <p:nvPr/>
        </p:nvSpPr>
        <p:spPr>
          <a:xfrm>
            <a:off x="1005840" y="3657600"/>
            <a:ext cx="7040880" cy="77724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chemeClr val="lt1"/>
                </a:solidFill>
                <a:latin typeface="Roboto"/>
                <a:ea typeface="Roboto"/>
              </a:rPr>
              <a:t>Unified banking ecosystem on a single Salesforce platform — CRM, AI, Documents, Flows, and Analytics all connected.</a:t>
            </a:r>
            <a:endParaRPr/>
          </a:p>
        </p:txBody>
      </p:sp>
      <p:sp>
        <p:nvSpPr>
          <p:cNvPr id="900" name="Rect900"/>
          <p:cNvSpPr/>
          <p:nvPr/>
        </p:nvSpPr>
        <p:spPr>
          <a:xfrm>
            <a:off x="0" y="5070348"/>
            <a:ext cx="9144000" cy="73152"/>
          </a:xfrm>
          <a:prstGeom prst="rect">
            <a:avLst/>
          </a:prstGeom>
          <a:solidFill>
            <a:srgbClr val="0F9D58"/>
          </a:solidFill>
          <a:ln>
            <a:noFill/>
          </a:ln>
        </p:spPr>
        <p:txBody>
          <a:bodyPr/>
          <a:lstStyl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800" b="1">
                <a:solidFill>
                  <a:schemeClr val="lt1"/>
                </a:solidFill>
                <a:latin typeface="Roboto"/>
                <a:ea typeface="Roboto"/>
              </a:rPr>
              <a:t>Demo Story: Banking Experience Reimagined</a:t>
            </a:r>
            <a:endParaRPr/>
          </a:p>
        </p:txBody>
      </p:sp>
      <p:sp>
        <p:nvSpPr>
          <p:cNvPr id="11" name="Rect11"/>
          <p:cNvSpPr/>
          <p:nvPr/>
        </p:nvSpPr>
        <p:spPr>
          <a:xfrm>
            <a:off x="457200" y="960120"/>
            <a:ext cx="7452360" cy="36576"/>
          </a:xfrm>
          <a:prstGeom prst="rect">
            <a:avLst/>
          </a:prstGeom>
          <a:solidFill>
            <a:srgbClr val="DB4437"/>
          </a:solidFill>
          <a:ln>
            <a:noFill/>
          </a:ln>
        </p:spPr>
        <p:txBody>
          <a:bodyPr/>
          <a:lstStyle/>
          <a:p/>
        </p:txBody>
      </p:sp>
      <p:sp>
        <p:nvSpPr>
          <p:cNvPr id="12" name="Shape12"/>
          <p:cNvSpPr txBox="1"/>
          <p:nvPr/>
        </p:nvSpPr>
        <p:spPr>
          <a:xfrm>
            <a:off x="457200" y="1097280"/>
            <a:ext cx="8229600" cy="41148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200" b="1">
                <a:solidFill>
                  <a:srgbClr val="DB4437"/>
                </a:solidFill>
                <a:latin typeface="Roboto"/>
                <a:ea typeface="Roboto"/>
              </a:rPr>
              <a:t>Before (Traditional Banking):</a:t>
            </a:r>
            <a:endParaRPr/>
          </a:p>
        </p:txBody>
      </p:sp>
      <p:sp>
        <p:nvSpPr>
          <p:cNvPr id="13" name="Shape13"/>
          <p:cNvSpPr txBox="1"/>
          <p:nvPr/>
        </p:nvSpPr>
        <p:spPr>
          <a:xfrm>
            <a:off x="457200" y="1600200"/>
            <a:ext cx="7863840" cy="25603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chemeClr val="lt1"/>
                </a:solidFill>
                <a:latin typeface="Roboto"/>
                <a:ea typeface="Roboto"/>
              </a:rPr>
              <a:t>Rahul (customer) notices a suspicious Rs 4,500 debit on his credit card. He calls the bank helpline — waits 25 minutes on hold. The IVR cannot understand his query and transfers him three times. He is finally asked to visit a branch with physical copies of his bill. He fills a paper form, submits it, and is told resolution takes 7–10 working days. He has no visibility into the status of his dispute. Meanwhile his limit is blocked. He is frustrated and considers switching banks.</a:t>
            </a:r>
            <a:endParaRPr/>
          </a:p>
        </p:txBody>
      </p:sp>
      <p:sp>
        <p:nvSpPr>
          <p:cNvPr id="900" name="Rect900"/>
          <p:cNvSpPr/>
          <p:nvPr/>
        </p:nvSpPr>
        <p:spPr>
          <a:xfrm>
            <a:off x="0" y="5070348"/>
            <a:ext cx="9144000" cy="73152"/>
          </a:xfrm>
          <a:prstGeom prst="rect">
            <a:avLst/>
          </a:prstGeom>
          <a:solidFill>
            <a:srgbClr val="DB4437"/>
          </a:solidFill>
          <a:ln>
            <a:noFill/>
          </a:ln>
        </p:spPr>
        <p:txBody>
          <a:bodyPr/>
          <a:lstStyl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Shape10"/>
          <p:cNvSpPr txBox="1"/>
          <p:nvPr/>
        </p:nvSpPr>
        <p:spPr>
          <a:xfrm>
            <a:off x="457200" y="274320"/>
            <a:ext cx="8229600" cy="59436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800" b="1">
                <a:solidFill>
                  <a:schemeClr val="lt1"/>
                </a:solidFill>
                <a:latin typeface="Roboto"/>
                <a:ea typeface="Roboto"/>
              </a:rPr>
              <a:t>Demo Story: Banking Experience Reimagined</a:t>
            </a:r>
            <a:endParaRPr/>
          </a:p>
        </p:txBody>
      </p:sp>
      <p:sp>
        <p:nvSpPr>
          <p:cNvPr id="11" name="Rect11"/>
          <p:cNvSpPr/>
          <p:nvPr/>
        </p:nvSpPr>
        <p:spPr>
          <a:xfrm>
            <a:off x="457200" y="960120"/>
            <a:ext cx="7452360" cy="36576"/>
          </a:xfrm>
          <a:prstGeom prst="rect">
            <a:avLst/>
          </a:prstGeom>
          <a:solidFill>
            <a:srgbClr val="0F9D58"/>
          </a:solidFill>
          <a:ln>
            <a:noFill/>
          </a:ln>
        </p:spPr>
        <p:txBody>
          <a:bodyPr/>
          <a:lstStyle/>
          <a:p/>
        </p:txBody>
      </p:sp>
      <p:sp>
        <p:nvSpPr>
          <p:cNvPr id="12" name="Shape12"/>
          <p:cNvSpPr txBox="1"/>
          <p:nvPr/>
        </p:nvSpPr>
        <p:spPr>
          <a:xfrm>
            <a:off x="457200" y="1097280"/>
            <a:ext cx="8229600" cy="41148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2200" b="1">
                <a:solidFill>
                  <a:srgbClr val="0F9D58"/>
                </a:solidFill>
                <a:latin typeface="Roboto"/>
                <a:ea typeface="Roboto"/>
              </a:rPr>
              <a:t>After (Bharat AI Bank — Agentforce-powered):</a:t>
            </a:r>
            <a:endParaRPr/>
          </a:p>
        </p:txBody>
      </p:sp>
      <p:sp>
        <p:nvSpPr>
          <p:cNvPr id="20" name="Rect20"/>
          <p:cNvSpPr/>
          <p:nvPr/>
        </p:nvSpPr>
        <p:spPr>
          <a:xfrm>
            <a:off x="411480" y="1600200"/>
            <a:ext cx="1645920" cy="365760"/>
          </a:xfrm>
          <a:prstGeom prst="rect">
            <a:avLst/>
          </a:prstGeom>
          <a:solidFill>
            <a:srgbClr val="1976D2"/>
          </a:solidFill>
          <a:ln>
            <a:noFill/>
          </a:ln>
        </p:spPr>
        <p:txBody>
          <a:bodyPr/>
          <a:lstStyle/>
          <a:p/>
        </p:txBody>
      </p:sp>
      <p:sp>
        <p:nvSpPr>
          <p:cNvPr id="21" name="Shape21"/>
          <p:cNvSpPr txBox="1"/>
          <p:nvPr/>
        </p:nvSpPr>
        <p:spPr>
          <a:xfrm>
            <a:off x="411480" y="1600200"/>
            <a:ext cx="1645920" cy="3657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b="1">
                <a:solidFill>
                  <a:srgbClr val="0F9D58"/>
                </a:solidFill>
                <a:latin typeface="Roboto"/>
                <a:ea typeface="Roboto"/>
              </a:rPr>
              <a:t>Rahul (Customer)</a:t>
            </a:r>
            <a:endParaRPr/>
          </a:p>
        </p:txBody>
      </p:sp>
      <p:sp>
        <p:nvSpPr>
          <p:cNvPr id="22" name="Shape22"/>
          <p:cNvSpPr txBox="1"/>
          <p:nvPr/>
        </p:nvSpPr>
        <p:spPr>
          <a:xfrm>
            <a:off x="2194560" y="1600200"/>
            <a:ext cx="5943600" cy="8229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Roboto"/>
                <a:ea typeface="Roboto"/>
              </a:rPr>
              <a:t>Opens chat → says 'I want to dispute a transaction' → AI agent asks for receipt → uploads PDF → agent calls Document AI, extracts Rs 4,500 → dispute filed in Salesforce in 90 seconds.</a:t>
            </a:r>
            <a:endParaRPr/>
          </a:p>
        </p:txBody>
      </p:sp>
      <p:sp>
        <p:nvSpPr>
          <p:cNvPr id="23" name="Rect23"/>
          <p:cNvSpPr/>
          <p:nvPr/>
        </p:nvSpPr>
        <p:spPr>
          <a:xfrm>
            <a:off x="411480" y="2560320"/>
            <a:ext cx="1645920" cy="365760"/>
          </a:xfrm>
          <a:prstGeom prst="rect">
            <a:avLst/>
          </a:prstGeom>
          <a:solidFill>
            <a:srgbClr val="1976D2"/>
          </a:solidFill>
          <a:ln>
            <a:noFill/>
          </a:ln>
        </p:spPr>
        <p:txBody>
          <a:bodyPr/>
          <a:lstStyle/>
          <a:p/>
        </p:txBody>
      </p:sp>
      <p:sp>
        <p:nvSpPr>
          <p:cNvPr id="24" name="Shape24"/>
          <p:cNvSpPr txBox="1"/>
          <p:nvPr/>
        </p:nvSpPr>
        <p:spPr>
          <a:xfrm>
            <a:off x="411480" y="2560320"/>
            <a:ext cx="1645920" cy="3657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b="1">
                <a:solidFill>
                  <a:srgbClr val="0F9D58"/>
                </a:solidFill>
                <a:latin typeface="Roboto"/>
                <a:ea typeface="Roboto"/>
              </a:rPr>
              <a:t>AI Agent</a:t>
            </a:r>
            <a:endParaRPr/>
          </a:p>
        </p:txBody>
      </p:sp>
      <p:sp>
        <p:nvSpPr>
          <p:cNvPr id="25" name="Shape25"/>
          <p:cNvSpPr txBox="1"/>
          <p:nvPr/>
        </p:nvSpPr>
        <p:spPr>
          <a:xfrm>
            <a:off x="2194560" y="2560320"/>
            <a:ext cx="5943600" cy="8229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Roboto"/>
                <a:ea typeface="Roboto"/>
              </a:rPr>
              <a:t>Responds in Hindi when Rahul switches language, checks account balance live, sends Case number, and proactively notifies Rahul of dispute status via chat.</a:t>
            </a:r>
            <a:endParaRPr/>
          </a:p>
        </p:txBody>
      </p:sp>
      <p:sp>
        <p:nvSpPr>
          <p:cNvPr id="26" name="Rect26"/>
          <p:cNvSpPr/>
          <p:nvPr/>
        </p:nvSpPr>
        <p:spPr>
          <a:xfrm>
            <a:off x="411480" y="3520440"/>
            <a:ext cx="1645920" cy="365760"/>
          </a:xfrm>
          <a:prstGeom prst="rect">
            <a:avLst/>
          </a:prstGeom>
          <a:solidFill>
            <a:srgbClr val="1976D2"/>
          </a:solidFill>
          <a:ln>
            <a:noFill/>
          </a:ln>
        </p:spPr>
        <p:txBody>
          <a:bodyPr/>
          <a:lstStyle/>
          <a:p/>
        </p:txBody>
      </p:sp>
      <p:sp>
        <p:nvSpPr>
          <p:cNvPr id="27" name="Shape27"/>
          <p:cNvSpPr txBox="1"/>
          <p:nvPr/>
        </p:nvSpPr>
        <p:spPr>
          <a:xfrm>
            <a:off x="411480" y="3520440"/>
            <a:ext cx="1645920" cy="3657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b="1">
                <a:solidFill>
                  <a:srgbClr val="0F9D58"/>
                </a:solidFill>
                <a:latin typeface="Roboto"/>
                <a:ea typeface="Roboto"/>
              </a:rPr>
              <a:t>Bank Operations</a:t>
            </a:r>
            <a:endParaRPr/>
          </a:p>
        </p:txBody>
      </p:sp>
      <p:sp>
        <p:nvSpPr>
          <p:cNvPr id="28" name="Shape28"/>
          <p:cNvSpPr txBox="1"/>
          <p:nvPr/>
        </p:nvSpPr>
        <p:spPr>
          <a:xfrm>
            <a:off x="2194560" y="3520440"/>
            <a:ext cx="5943600" cy="8229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Roboto"/>
                <a:ea typeface="Roboto"/>
              </a:rPr>
              <a:t>Zero manual intervention — Case auto-assigned to fraud team if needed, full audit trail in Salesforce, compliance reports auto-generated.</a:t>
            </a:r>
            <a:endParaRPr/>
          </a:p>
        </p:txBody>
      </p:sp>
      <p:sp>
        <p:nvSpPr>
          <p:cNvPr id="900" name="Rect900"/>
          <p:cNvSpPr/>
          <p:nvPr/>
        </p:nvSpPr>
        <p:spPr>
          <a:xfrm>
            <a:off x="0" y="5070348"/>
            <a:ext cx="9144000" cy="73152"/>
          </a:xfrm>
          <a:prstGeom prst="rect">
            <a:avLst/>
          </a:prstGeom>
          <a:solidFill>
            <a:srgbClr val="0F9D58"/>
          </a:solidFill>
          <a:ln>
            <a:noFill/>
          </a:ln>
        </p:spPr>
        <p:txBody>
          <a:bodyPr/>
          <a:lstStyle/>
          <a:p/>
        </p:txBody>
      </p:sp>
    </p:spTree>
  </p:cSld>
  <p:clrMapOvr>
    <a:masterClrMapping/>
  </p:clrMapOvr>
</p:sld>
</file>

<file path=ppt/slides/slide16.xml><?xml version="1.0" encoding="UTF-8" standalone="yes"?><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p:cSld><p:spTree><p:nvGrpSpPr><p:cNvPr id="1" name="Shape1"/><p:cNvGrpSpPr/><p:nvPr/></p:nvGrpSpPr><p:grpSpPr><a:xfrm><a:off x="0" y="0"/><a:ext cx="0" cy="0"/><a:chOff x="0" y="0"/><a:chExt cx="0" cy="0"/></a:xfrm></p:grpSpPr><p:sp><p:nvSpPr><p:cNvPr id="10" name="Shape10"/><p:cNvSpPr txBox="1"/><p:nvPr/></p:nvSpPr><p:spPr><a:xfrm><a:off x="457200" y="274320"/><a:ext cx="8229600" cy="5943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2800" b="1"><a:solidFill><a:schemeClr val="lt1"/></a:solidFill><a:latin typeface="Roboto"/><a:ea typeface="Roboto"/></a:rPr><a:t>Demo Story: Banking Experience Reimagined</a:t></a:r><a:endParaRPr/></a:p></p:txBody></p:sp><p:sp><p:nvSpPr><p:cNvPr id="11" name="Rect11"/><p:cNvSpPr/><p:nvPr/></p:nvSpPr><p:spPr><a:xfrm><a:off x="457200" y="960120"/><a:ext cx="7452360" cy="36576"/></a:xfrm><a:prstGeom prst="rect"><a:avLst/></a:prstGeom><a:solidFill><a:srgbClr val="F4B400"/></a:solidFill><a:ln><a:noFill/></a:ln></p:spPr><p:txBody><a:bodyPr/><a:lstStyle/><a:p/></p:txBody></p:sp><p:sp><p:nvSpPr><p:cNvPr id="12" name="Shape12"/><p:cNvSpPr txBox="1"/><p:nvPr/></p:nvSpPr><p:spPr><a:xfrm><a:off x="457200" y="1097280"/><a:ext cx="8229600" cy="365760"/></a:xfrm><a:prstGeom prst="rect"><a:avLst/></a:prstGeom><a:noFill/><a:ln><a:noFill/></a:ln></p:spPr><p:txBody><a:bodyPr anchorCtr="0" anchor="b" bIns="91425" lIns="91425" spcFirstLastPara="1" rIns="91425" wrap="square" tIns="91425"><a:noAutofit/></a:bodyPr><a:lstStyle/><a:p><a:pPr indent="0" lvl="0" marL="0" rtl="0" algn="l"><a:spcBef><a:spcPts val="0"/></a:spcBef><a:spcAft><a:spcPts val="0"/></a:spcAft><a:buNone/></a:pPr><a:r><a:rPr lang="en" sz="2200" b="1"><a:solidFill><a:srgbClr val="F4B400"/></a:solidFill><a:latin typeface="Roboto"/><a:ea typeface="Roboto"/></a:rPr><a:t>Outcome:</a:t></a:r><a:endParaRPr/></a:p></p:txBody></p:sp><p:sp><p:nvSpPr><p:cNvPr id="20" name="Rect20"/><p:cNvSpPr/><p:nvPr/></p:nvSpPr><p:spPr><a:xfrm><a:off x="457200" y="1783080"/><a:ext cx="320040" cy="320040"/></a:xfrm><a:prstGeom prst="rect"><a:avLst/></a:prstGeom><a:solidFill><a:srgbClr val="F4B400"/></a:solidFill><a:ln><a:noFill/></a:ln></p:spPr><p:txBody><a:bodyPr/><a:lstStyle/><a:p/></p:txBody></p:sp><p:sp><p:nvSpPr><p:cNvPr id="30" name="Shape30"/><p:cNvSpPr txBox="1"/><p:nvPr/></p:nvSpPr><p:spPr><a:xfrm><a:off x="457200" y="1783080"/><a:ext cx="320040" cy="3200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400" b="1"><a:solidFill><a:srgbClr val="000000"/></a:solidFill><a:latin typeface="Roboto"/><a:ea typeface="Roboto"/></a:rPr><a:t>✓</a:t></a:r><a:endParaRPr/></a:p></p:txBody></p:sp><p:sp><p:nvSpPr><p:cNvPr id="40" name="Shape40"/><p:cNvSpPr txBox="1"/><p:nvPr/></p:nvSpPr><p:spPr><a:xfrm><a:off x="914400" y="1600200"/><a:ext cx="3566160" cy="68580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700"><a:solidFill><a:schemeClr val="lt1"/></a:solidFill><a:latin typeface="Roboto"/><a:ea typeface="Roboto"/></a:rPr><a:t>Dispute resolved in under 2 minutes</a:t></a:r><a:endParaRPr/></a:p></p:txBody></p:sp><p:sp><p:nvSpPr><p:cNvPr id="21" name="Rect21"/><p:cNvSpPr/><p:nvPr/></p:nvSpPr><p:spPr><a:xfrm><a:off x="457200" y="2560320"/><a:ext cx="320040" cy="320040"/></a:xfrm><a:prstGeom prst="rect"><a:avLst/></a:prstGeom><a:solidFill><a:srgbClr val="F4B400"/></a:solidFill><a:ln><a:noFill/></a:ln></p:spPr><p:txBody><a:bodyPr/><a:lstStyle/><a:p/></p:txBody></p:sp><p:sp><p:nvSpPr><p:cNvPr id="31" name="Shape31"/><p:cNvSpPr txBox="1"/><p:nvPr/></p:nvSpPr><p:spPr><a:xfrm><a:off x="457200" y="2560320"/><a:ext cx="320040" cy="3200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400" b="1"><a:solidFill><a:srgbClr val="000000"/></a:solidFill><a:latin typeface="Roboto"/><a:ea typeface="Roboto"/></a:rPr><a:t>✓</a:t></a:r><a:endParaRPr/></a:p></p:txBody></p:sp><p:sp><p:nvSpPr><p:cNvPr id="41" name="Shape41"/><p:cNvSpPr txBox="1"/><p:nvPr/></p:nvSpPr><p:spPr><a:xfrm><a:off x="914400" y="2377440"/><a:ext cx="3566160" cy="68580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700"><a:solidFill><a:schemeClr val="lt1"/></a:solidFill><a:latin typeface="Roboto"/><a:ea typeface="Roboto"/></a:rPr><a:t>Zero branch visit required</a:t></a:r><a:endParaRPr/></a:p></p:txBody></p:sp><p:sp><p:nvSpPr><p:cNvPr id="22" name="Rect22"/><p:cNvSpPr/><p:nvPr/></p:nvSpPr><p:spPr><a:xfrm><a:off x="457200" y="3337560"/><a:ext cx="320040" cy="320040"/></a:xfrm><a:prstGeom prst="rect"><a:avLst/></a:prstGeom><a:solidFill><a:srgbClr val="F4B400"/></a:solidFill><a:ln><a:noFill/></a:ln></p:spPr><p:txBody><a:bodyPr/><a:lstStyle/><a:p/></p:txBody></p:sp><p:sp><p:nvSpPr><p:cNvPr id="32" name="Shape32"/><p:cNvSpPr txBox="1"/><p:nvPr/></p:nvSpPr><p:spPr><a:xfrm><a:off x="457200" y="3337560"/><a:ext cx="320040" cy="3200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400" b="1"><a:solidFill><a:srgbClr val="000000"/></a:solidFill><a:latin typeface="Roboto"/><a:ea typeface="Roboto"/></a:rPr><a:t>✓</a:t></a:r><a:endParaRPr/></a:p></p:txBody></p:sp><p:sp><p:nvSpPr><p:cNvPr id="42" name="Shape42"/><p:cNvSpPr txBox="1"/><p:nvPr/></p:nvSpPr><p:spPr><a:xfrm><a:off x="914400" y="3154680"/><a:ext cx="3566160" cy="68580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700"><a:solidFill><a:schemeClr val="lt1"/></a:solidFill><a:latin typeface="Roboto"/><a:ea typeface="Roboto"/></a:rPr><a:t>AI agent handled entirely in Hindi</a:t></a:r><a:endParaRPr/></a:p></p:txBody></p:sp><p:sp><p:nvSpPr><p:cNvPr id="30" name="Rect30"/><p:cNvSpPr/><p:nvPr/></p:nvSpPr><p:spPr><a:xfrm><a:off x="4663440" y="1783080"/><a:ext cx="320040" cy="320040"/></a:xfrm><a:prstGeom prst="rect"><a:avLst/></a:prstGeom><a:solidFill><a:srgbClr val="F4B400"/></a:solidFill><a:ln><a:noFill/></a:ln></p:spPr><p:txBody><a:bodyPr/><a:lstStyle/><a:p/></p:txBody></p:sp><p:sp><p:nvSpPr><p:cNvPr id="40" name="Shape40"/><p:cNvSpPr txBox="1"/><p:nvPr/></p:nvSpPr><p:spPr><a:xfrm><a:off x="4663440" y="1783080"/><a:ext cx="320040" cy="3200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400" b="1"><a:solidFill><a:srgbClr val="000000"/></a:solidFill><a:latin typeface="Roboto"/><a:ea typeface="Roboto"/></a:rPr><a:t>✓</a:t></a:r><a:endParaRPr/></a:p></p:txBody></p:sp><p:sp><p:nvSpPr><p:cNvPr id="50" name="Shape50"/><p:cNvSpPr txBox="1"/><p:nvPr/></p:nvSpPr><p:spPr><a:xfrm><a:off x="5120640" y="1600200"/><a:ext cx="3566160" cy="68580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700"><a:solidFill><a:schemeClr val="lt1"/></a:solidFill><a:latin typeface="Roboto"/><a:ea typeface="Roboto"/></a:rPr><a:t>KYC verified & approved in same session</a:t></a:r><a:endParaRPr/></a:p></p:txBody></p:sp><p:sp><p:nvSpPr><p:cNvPr id="31" name="Rect31"/><p:cNvSpPr/><p:nvPr/></p:nvSpPr><p:spPr><a:xfrm><a:off x="4663440" y="2560320"/><a:ext cx="320040" cy="320040"/></a:xfrm><a:prstGeom prst="rect"><a:avLst/></a:prstGeom><a:solidFill><a:srgbClr val="F4B400"/></a:solidFill><a:ln><a:noFill/></a:ln></p:spPr><p:txBody><a:bodyPr/><a:lstStyle/><a:p/></p:txBody></p:sp><p:sp><p:nvSpPr><p:cNvPr id="41" name="Shape41"/><p:cNvSpPr txBox="1"/><p:nvPr/></p:nvSpPr><p:spPr><a:xfrm><a:off x="4663440" y="2560320"/><a:ext cx="320040" cy="32004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400" b="1"><a:solidFill><a:srgbClr val="000000"/></a:solidFill><a:latin typeface="Roboto"/><a:ea typeface="Roboto"/></a:rPr><a:t>✓</a:t></a:r><a:endParaRPr/></a:p></p:txBody></p:sp><p:sp><p:nvSpPr><p:cNvPr id="51" name="Shape51"/><p:cNvSpPr txBox="1"/><p:nvPr/></p:nvSpPr><p:spPr><a:xfrm><a:off x="5120640" y="2377440"/><a:ext cx="3566160" cy="685800"/></a:xfrm><a:prstGeom prst="rect"><a:avLst/></a:prstGeom><a:noFill/><a:ln><a:noFill/></a:ln></p:spPr><p:txBody><a:bodyPr anchorCtr="0" anchor="ctr" bIns="91425" lIns="91425" spcFirstLastPara="1" rIns="91425" wrap="square" tIns="91425"><a:noAutofit/></a:bodyPr><a:lstStyle/><a:p><a:pPr indent="0" lvl="0" marL="0" rtl="0" algn="l"><a:spcBef><a:spcPts val="0"/></a:spcBef><a:spcAft><a:spcPts val="0"/></a:spcAft><a:buNone/></a:pPr><a:r><a:rPr lang="en" sz="1700"><a:solidFill><a:schemeClr val="lt1"/></a:solidFill><a:latin typeface="Roboto"/><a:ea typeface="Roboto"/></a:rPr><a:t>Customer satisfaction: instant, transparent, effortless</a:t></a:r><a:endParaRPr/></a:p></p:txBody></p:sp><p:sp><p:nvSpPr><p:cNvPr id="900" name="Rect900"/><p:cNvSpPr/><p:nvPr/></p:nvSpPr><p:spPr><a:xfrm><a:off x="0" y="5070348"/><a:ext cx="9144000" cy="73152"/></a:xfrm><a:prstGeom prst="rect"><a:avLst/></a:prstGeom><a:solidFill><a:srgbClr val="F4B400"/></a:solidFill><a:ln><a:noFill/></a:ln></p:spPr><p:txBody><a:bodyPr/><a:lstStyle/><a:p/></p:txBody></p:sp></p:spTree></p:cSld><p:clrMapOvr><a:masterClrMapping/></p:clrMapOvr></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 name="Shape1"/>
        <p:cNvGrpSpPr/>
        <p:nvPr/>
      </p:nvGrpSpPr>
      <p:grpSpPr>
        <a:xfrm>
          <a:off x="0" y="0"/>
          <a:ext cx="0" cy="0"/>
          <a:chOff x="0" y="0"/>
          <a:chExt cx="0" cy="0"/>
        </a:xfrm>
      </p:grpSpPr>
      <p:sp>
        <p:nvSpPr>
          <p:cNvPr id="10" name="Rect10"/>
          <p:cNvSpPr/>
          <p:nvPr/>
        </p:nvSpPr>
        <p:spPr>
          <a:xfrm>
            <a:off x="0" y="0"/>
            <a:ext cx="9144000" cy="182880"/>
          </a:xfrm>
          <a:prstGeom prst="rect">
            <a:avLst/>
          </a:prstGeom>
          <a:solidFill>
            <a:srgbClr val="F4B400"/>
          </a:solidFill>
          <a:ln>
            <a:noFill/>
          </a:ln>
        </p:spPr>
        <p:txBody>
          <a:bodyPr/>
          <a:lstStyle/>
          <a:p/>
        </p:txBody>
      </p:sp>
      <p:sp>
        <p:nvSpPr>
          <p:cNvPr id="11" name="Shape11"/>
          <p:cNvSpPr txBox="1"/>
          <p:nvPr/>
        </p:nvSpPr>
        <p:spPr>
          <a:xfrm>
            <a:off x="457200" y="1097280"/>
            <a:ext cx="8321040" cy="91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5400" b="1">
                <a:solidFill>
                  <a:schemeClr val="lt1"/>
                </a:solidFill>
                <a:latin typeface="Roboto"/>
                <a:ea typeface="Roboto"/>
              </a:rPr>
              <a:t>Thank You!</a:t>
            </a:r>
            <a:endParaRPr/>
          </a:p>
        </p:txBody>
      </p:sp>
      <p:sp>
        <p:nvSpPr>
          <p:cNvPr id="12" name="Rect12"/>
          <p:cNvSpPr/>
          <p:nvPr/>
        </p:nvSpPr>
        <p:spPr>
          <a:xfrm>
            <a:off x="3200400" y="2194560"/>
            <a:ext cx="2880360" cy="45720"/>
          </a:xfrm>
          <a:prstGeom prst="rect">
            <a:avLst/>
          </a:prstGeom>
          <a:solidFill>
            <a:srgbClr val="F4B400"/>
          </a:solidFill>
          <a:ln>
            <a:noFill/>
          </a:ln>
        </p:spPr>
        <p:txBody>
          <a:bodyPr/>
          <a:lstStyle/>
          <a:p/>
        </p:txBody>
      </p:sp>
      <p:sp>
        <p:nvSpPr>
          <p:cNvPr id="13" name="Shape13"/>
          <p:cNvSpPr txBox="1"/>
          <p:nvPr/>
        </p:nvSpPr>
        <p:spPr>
          <a:xfrm>
            <a:off x="457200" y="2423160"/>
            <a:ext cx="8321040" cy="5029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Roboto"/>
                <a:ea typeface="Roboto"/>
              </a:rPr>
              <a:t>Team AgentX Innovators  |  Accenture  |  2025</a:t>
            </a:r>
            <a:endParaRPr/>
          </a:p>
        </p:txBody>
      </p:sp>
      <p:sp>
        <p:nvSpPr>
          <p:cNvPr id="14" name="Shape14"/>
          <p:cNvSpPr txBox="1"/>
          <p:nvPr/>
        </p:nvSpPr>
        <p:spPr>
          <a:xfrm>
            <a:off x="457200" y="3017520"/>
            <a:ext cx="8321040" cy="4114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700">
                <a:solidFill>
                  <a:srgbClr val="B0BEC5"/>
                </a:solidFill>
                <a:latin typeface="Roboto"/>
                <a:ea typeface="Roboto"/>
              </a:rPr>
              <a:t>Princy Shah  •  Shraddha Dere  •  Ankur Omar  •  Ravi Kamal</a:t>
            </a:r>
            <a:endParaRPr/>
          </a:p>
        </p:txBody>
      </p:sp>
      <p:sp>
        <p:nvSpPr>
          <p:cNvPr id="15" name="Shape15"/>
          <p:cNvSpPr txBox="1"/>
          <p:nvPr/>
        </p:nvSpPr>
        <p:spPr>
          <a:xfrm>
            <a:off x="457200" y="3566160"/>
            <a:ext cx="8321040" cy="3657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4FC3F7"/>
                </a:solidFill>
                <a:latin typeface="Roboto"/>
                <a:ea typeface="Roboto"/>
              </a:rPr>
              <a:t>GitHub: github.com/princy2806/Bharat-AI-Bank</a:t>
            </a:r>
            <a:endParaRPr/>
          </a:p>
        </p:txBody>
      </p:sp>
      <p:sp>
        <p:nvSpPr>
          <p:cNvPr id="900" name="Rect900"/>
          <p:cNvSpPr/>
          <p:nvPr/>
        </p:nvSpPr>
        <p:spPr>
          <a:xfrm>
            <a:off x="0" y="5070348"/>
            <a:ext cx="9144000" cy="73152"/>
          </a:xfrm>
          <a:prstGeom prst="rect">
            <a:avLst/>
          </a:prstGeom>
          <a:solidFill>
            <a:srgbClr val="F4B400"/>
          </a:solidFill>
          <a:ln>
            <a:noFill/>
          </a:ln>
        </p:spPr>
        <p:txBody>
          <a:bodyPr/>
          <a:lstStyle/>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