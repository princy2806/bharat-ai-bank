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605D24B-F508-42EB-90AA-BF0BB00502DA}">
  <a:tblStyle styleId="{5605D24B-F508-42EB-90AA-BF0BB00502D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d9c453428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d9c45342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e9090756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e9090756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d91e1f37e_1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d91e1f37e_1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d91e1f37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d91e1f37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e9090756a_1_3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e9090756a_1_3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e9090756a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e9090756a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6dffd57703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6dffd57703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d5b09a965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d5b09a965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6dffd57703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6dffd5770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dffd57703_0_5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6dffd57703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dffd57703_0_5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36dffd5770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Slide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371600"/>
            <a:ext cx="8046720" cy="109728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" sz="5400" b="1">
                <a:solidFill>
                  <a:srgbClr val="E8B923"/>
                </a:solidFill>
                <a:latin typeface="Roboto"/>
              </a:rPr>
              <a:t>Bharat AI Bank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2651760"/>
            <a:ext cx="8046720" cy="7315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" sz="2400">
                <a:solidFill>
                  <a:srgbClr val="FFFFFF"/>
                </a:solidFill>
                <a:latin typeface="Roboto"/>
              </a:rPr>
              <a:t>Intelligent Banking with Agentforce AI</a:t>
            </a:r>
          </a:p>
          <a:p>
            <a:pPr algn="ctr"/>
            <a:r>
              <a:rPr lang="en" sz="1800">
                <a:solidFill>
                  <a:srgbClr val="4A90E2"/>
                </a:solidFill>
                <a:latin typeface="Roboto"/>
              </a:rPr>
              <a:t>Team: AgentX Innovators | Accenture |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Slide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7432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" sz="3600" b="1">
                <a:solidFill>
                  <a:srgbClr val="E8B923"/>
                </a:solidFill>
                <a:latin typeface="Roboto"/>
              </a:rPr>
              <a:t>Meet the Team</a:t>
            </a:r>
          </a:p>
        </p:txBody>
      </p:sp>
      <p:sp>
        <p:nvSpPr>
          <p:cNvPr id="3" name="Line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txBody>
          <a:bodyPr/>
          <a:lstStyle/>
        </p:txBody>
      </p:sp>
      <p:sp>
        <p:nvSpPr>
          <p:cNvPr id="4" name="Body"/>
          <p:cNvSpPr txBox="1"/>
          <p:nvPr/>
        </p:nvSpPr>
        <p:spPr>
          <a:xfrm>
            <a:off x="365760" y="1188720"/>
            <a:ext cx="8138160" cy="320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Princy Shah - Salesforce Tech Lead, Accenture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Shraddha Dere - Salesforce Tech Lead, Accenture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Ankur Omar - Salesforce Manager, Accenture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Ravi Kamal - Salesforce Tech Lead, Accenture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Slide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7432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" sz="3600" b="1">
                <a:solidFill>
                  <a:srgbClr val="E8B923"/>
                </a:solidFill>
                <a:latin typeface="Roboto"/>
              </a:rPr>
              <a:t>Mission Statement</a:t>
            </a:r>
          </a:p>
        </p:txBody>
      </p:sp>
      <p:sp>
        <p:nvSpPr>
          <p:cNvPr id="3" name="Line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txBody>
          <a:bodyPr/>
          <a:lstStyle/>
        </p:txBody>
      </p:sp>
      <p:sp>
        <p:nvSpPr>
          <p:cNvPr id="4" name="Body"/>
          <p:cNvSpPr txBox="1"/>
          <p:nvPr/>
        </p:nvSpPr>
        <p:spPr>
          <a:xfrm>
            <a:off x="365760" y="1188720"/>
            <a:ext cx="8138160" cy="320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Transform banking through AI-powered Agentforce platform that gives every customer a smart, personalised assistant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Capable of checking balances, detecting fraud, processing KYC documents, resolving disputes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Instant support in any language, 24 × 7, without human intervention</a:t>
            </a:r>
          </a:p>
        </p:txBody>
      </p:sp>
    </p:spTree>
  </p:cSld>
  <p:clrMapOvr>
    <a:masterClrMapping/>
  </p:clrMapOvr>
</p:sld>
</file>

<file path=ppt/slides/slide4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1A3A52"/></a:solidFill><a:effectLst/></p:bgPr></p:bg>
    <p:spTree>
      <p:nvGrpSpPr><p:cNvPr id="1" name="Slide4"/><p:cNvGrpSpPr/><p:nvPr/></p:nvGrpSpPr>
      <p:grpSpPr><a:xfrm><a:off x="0" y="0"/><a:ext cx="0" cy="0"/><a:chOff x="0" y="0"/><a:chExt cx="0" cy="0"/></a:xfrm></p:grpSpPr>
      <p:sp>
  <p:nvSpPr>
    <p:cNvPr id="2" name="Title"/>
    <p:cNvSpPr txBox="1"/><p:nvPr/>
  </p:nvSpPr>
  <p:spPr>
    <a:xfrm><a:off x="365760" y="274320"/><a:ext cx="8138160" cy="685800"/></a:xfrm>
    <a:prstGeom prst="rect"><a:avLst/></a:prstGeom>
    <a:noFill/><a:ln><a:noFill/></a:ln>
  </p:spPr>
  <p:txBody>
    <a:bodyPr/><a:lstStyle/>
    <a:p>
      <a:pPr algn="l"/>
      <a:r>
        <a:rPr lang="en" sz="3600" b="1">
          <a:solidFill><a:srgbClr val="E8B923"/></a:solidFill>
          <a:latin typeface="Roboto"/>
        </a:rPr>
        <a:t>The Problem</a:t>
      </a:r>
    </a:p>
  </p:txBody>
</p:sp>

<p:sp>
  <p:nvSpPr>
    <p:cNvPr id="3" name="Line"/>
    <p:cNvSpPr/><p:nvPr/>
  </p:nvSpPr>
  <p:spPr>
    <a:xfrm><a:off x="365760" y="1051560"/><a:ext cx="2286000" cy="36576"/></a:xfrm>
    <a:prstGeom prst="rect"><a:avLst/></a:prstGeom>
    <a:solidFill><a:srgbClr val="E8B923"/></a:solidFill>
    <a:ln><a:noFill/></a:ln>
  </p:spPr>
  <p:txBody><a:bodyPr/><a:lstStyle/></p:txBody>
</p:sp>

<p:sp>
  <p:nvSpPr>
    <p:cNvPr id="4" name="Body"/>
    <p:cNvSpPr txBox="1"/><p:nvPr/>
  </p:nvSpPr>
  <p:spPr>
    <a:xfrm><a:off x="365760" y="1188720"/><a:ext cx="8138160" cy="3200400"/></a:xfrm>
    <a:prstGeom prst="rect"><a:avLst/></a:prstGeom>
    <a:noFill/><a:ln><a:noFill/></a:ln>
  </p:spPr>
  <p:txBody>
    <a:bodyPr/><a:lstStyle/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Fragmented banking channels — customers navigate multiple apps, IVR, and branches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Slow, manual document processing — KYC & disputes take 5-10 business days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No intelligent personalisation — chatbots fail in regional languages and context</a:t>
      </a:r>
    </a:p>

  </p:txBody>
</p:sp>
    </p:spTree>
  </p:cSld>
  <p:clrMapOvr><a:masterClrMapping/></p:clrMapOvr>
</p:sld>
</file>

<file path=ppt/slides/slide5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1A3A52"/></a:solidFill><a:effectLst/></p:bgPr></p:bg>
    <p:spTree>
      <p:nvGrpSpPr><p:cNvPr id="1" name="Slide5"/><p:cNvGrpSpPr/><p:nvPr/></p:nvGrpSpPr>
      <p:grpSpPr><a:xfrm><a:off x="0" y="0"/><a:ext cx="0" cy="0"/><a:chOff x="0" y="0"/><a:chExt cx="0" cy="0"/></a:xfrm></p:grpSpPr>
      <p:sp>
  <p:nvSpPr>
    <p:cNvPr id="2" name="Title"/>
    <p:cNvSpPr txBox="1"/><p:nvPr/>
  </p:nvSpPr>
  <p:spPr>
    <a:xfrm><a:off x="365760" y="274320"/><a:ext cx="8138160" cy="685800"/></a:xfrm>
    <a:prstGeom prst="rect"><a:avLst/></a:prstGeom>
    <a:noFill/><a:ln><a:noFill/></a:ln>
  </p:spPr>
  <p:txBody>
    <a:bodyPr/><a:lstStyle/>
    <a:p>
      <a:pPr algn="l"/>
      <a:r>
        <a:rPr lang="en" sz="3600" b="1">
          <a:solidFill><a:srgbClr val="E8B923"/></a:solidFill>
          <a:latin typeface="Roboto"/>
        </a:rPr>
        <a:t>The Solution</a:t>
      </a:r>
    </a:p>
  </p:txBody>
</p:sp>

<p:sp>
  <p:nvSpPr>
    <p:cNvPr id="3" name="Line"/>
    <p:cNvSpPr/><p:nvPr/>
  </p:nvSpPr>
  <p:spPr>
    <a:xfrm><a:off x="365760" y="1051560"/><a:ext cx="2286000" cy="36576"/></a:xfrm>
    <a:prstGeom prst="rect"><a:avLst/></a:prstGeom>
    <a:solidFill><a:srgbClr val="E8B923"/></a:solidFill>
    <a:ln><a:noFill/></a:ln>
  </p:spPr>
  <p:txBody><a:bodyPr/><a:lstStyle/></p:txBody>
</p:sp>

<p:sp>
  <p:nvSpPr>
    <p:cNvPr id="4" name="Body"/>
    <p:cNvSpPr txBox="1"/><p:nvPr/>
  </p:nvSpPr>
  <p:spPr>
    <a:xfrm><a:off x="365760" y="1188720"/><a:ext cx="8138160" cy="3200400"/></a:xfrm>
    <a:prstGeom prst="rect"><a:avLst/></a:prstGeom>
    <a:noFill/><a:ln><a:noFill/></a:ln>
  </p:spPr>
  <p:txBody>
    <a:bodyPr/><a:lstStyle/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Agentforce-powered banking AI agent — always-on, understands English & Hindi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AI document processing — Document AI instantly reads receipts, KYC, invoices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End-to-end automation — dispute filing to KYC approval, all via Salesforce</a:t>
      </a:r>
    </a:p>

  </p:txBody>
</p:sp>
    </p:spTree>
  </p:cSld>
  <p:clrMapOvr><a:masterClrMapping/></p:clrMapOvr>
</p:sld>
</file>

<file path=ppt/slides/slide6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1A3A52"/></a:solidFill><a:effectLst/></p:bgPr></p:bg>
    <p:spTree>
      <p:nvGrpSpPr><p:cNvPr id="1" name="Slide6"/><p:cNvGrpSpPr/><p:nvPr/></p:nvGrpSpPr>
      <p:grpSpPr><a:xfrm><a:off x="0" y="0"/><a:ext cx="0" cy="0"/><a:chOff x="0" y="0"/><a:chExt cx="0" cy="0"/></a:xfrm></p:grpSpPr>
      <p:sp>
  <p:nvSpPr>
    <p:cNvPr id="2" name="Title"/>
    <p:cNvSpPr txBox="1"/><p:nvPr/>
  </p:nvSpPr>
  <p:spPr>
    <a:xfrm><a:off x="365760" y="274320"/><a:ext cx="8138160" cy="685800"/></a:xfrm>
    <a:prstGeom prst="rect"><a:avLst/></a:prstGeom>
    <a:noFill/><a:ln><a:noFill/></a:ln>
  </p:spPr>
  <p:txBody>
    <a:bodyPr/><a:lstStyle/>
    <a:p>
      <a:pPr algn="l"/>
      <a:r>
        <a:rPr lang="en" sz="3600" b="1">
          <a:solidFill><a:srgbClr val="E8B923"/></a:solidFill>
          <a:latin typeface="Roboto"/>
        </a:rPr>
        <a:t>The Technology</a:t>
      </a:r>
    </a:p>
  </p:txBody>
</p:sp>

<p:sp>
  <p:nvSpPr>
    <p:cNvPr id="3" name="Line"/>
    <p:cNvSpPr/><p:nvPr/>
  </p:nvSpPr>
  <p:spPr>
    <a:xfrm><a:off x="365760" y="1051560"/><a:ext cx="2286000" cy="36576"/></a:xfrm>
    <a:prstGeom prst="rect"><a:avLst/></a:prstGeom>
    <a:solidFill><a:srgbClr val="E8B923"/></a:solidFill>
    <a:ln><a:noFill/></a:ln>
  </p:spPr>
  <p:txBody><a:bodyPr/><a:lstStyle/></p:txBody>
</p:sp>

<p:sp>
  <p:nvSpPr>
    <p:cNvPr id="4" name="Body"/>
    <p:cNvSpPr txBox="1"/><p:nvPr/>
  </p:nvSpPr>
  <p:spPr>
    <a:xfrm><a:off x="365760" y="1188720"/><a:ext cx="8138160" cy="3200400"/></a:xfrm>
    <a:prstGeom prst="rect"><a:avLst/></a:prstGeom>
    <a:noFill/><a:ln><a:noFill/></a:ln>
  </p:spPr>
  <p:txBody>
    <a:bodyPr/><a:lstStyle/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Salesforce Agentforce (GenAI Planner with ReAct reasoning)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Salesforce Service Cloud (CRM, Cases, Omnichannel routing)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Document AI / IDP (PDF extraction, structured data)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Apex & Salesforce Flows (Transaction processing, automation)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Experience Cloud & LWC (Customer portal, chat interface)</a:t>
      </a:r>
    </a:p>

  </p:txBody>
</p:sp>
    </p:spTree>
  </p:cSld>
  <p:clrMapOvr><a:masterClrMapping/></p:clrMapOvr>
</p:sld>
</file>

<file path=ppt/slides/slide7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1A3A52"/></a:solidFill><a:effectLst/></p:bgPr></p:bg>
    <p:spTree>
      <p:nvGrpSpPr><p:cNvPr id="1" name="Slide7"/><p:cNvGrpSpPr/><p:nvPr/></p:nvGrpSpPr>
      <p:grpSpPr><a:xfrm><a:off x="0" y="0"/><a:ext cx="0" cy="0"/><a:chOff x="0" y="0"/><a:chExt cx="0" cy="0"/></a:xfrm></p:grpSpPr>
      <p:sp>
  <p:nvSpPr>
    <p:cNvPr id="2" name="Title"/>
    <p:cNvSpPr txBox="1"/><p:nvPr/>
  </p:nvSpPr>
  <p:spPr>
    <a:xfrm><a:off x="365760" y="274320"/><a:ext cx="8138160" cy="685800"/></a:xfrm>
    <a:prstGeom prst="rect"><a:avLst/></a:prstGeom>
    <a:noFill/><a:ln><a:noFill/></a:ln>
  </p:spPr>
  <p:txBody>
    <a:bodyPr/><a:lstStyle/>
    <a:p>
      <a:pPr algn="l"/>
      <a:r>
        <a:rPr lang="en" sz="3600" b="1">
          <a:solidFill><a:srgbClr val="E8B923"/></a:solidFill>
          <a:latin typeface="Roboto"/>
        </a:rPr>
        <a:t>How It Works</a:t>
      </a:r>
    </a:p>
  </p:txBody>
</p:sp>

<p:sp>
  <p:nvSpPr>
    <p:cNvPr id="3" name="Line"/>
    <p:cNvSpPr/><p:nvPr/>
  </p:nvSpPr>
  <p:spPr>
    <a:xfrm><a:off x="365760" y="1051560"/><a:ext cx="2286000" cy="36576"/></a:xfrm>
    <a:prstGeom prst="rect"><a:avLst/></a:prstGeom>
    <a:solidFill><a:srgbClr val="E8B923"/></a:solidFill>
    <a:ln><a:noFill/></a:ln>
  </p:spPr>
  <p:txBody><a:bodyPr/><a:lstStyle/></p:txBody>
</p:sp>

<p:sp>
  <p:nvSpPr>
    <p:cNvPr id="4" name="Body"/>
    <p:cNvSpPr txBox="1"/><p:nvPr/>
  </p:nvSpPr>
  <p:spPr>
    <a:xfrm><a:off x="365760" y="1188720"/><a:ext cx="8138160" cy="3200400"/></a:xfrm>
    <a:prstGeom prst="rect"><a:avLst/></a:prstGeom>
    <a:noFill/><a:ln><a:noFill/></a:ln>
  </p:spPr>
  <p:txBody>
    <a:bodyPr/><a:lstStyle/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Step 1 — Customer initiates via chat, Agentforce detects intent, creates Case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Step 2 — GenAI Planner selects action (GetBalance, FileDispute, ProcessDocAI)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Step 3 — When customer uploads PDF, Document AI instantly extracts data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Step 4 — Agent responds in English or Hindi with live account data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Step 5 — Autonomously resolves disputes & KYC with zero manual effort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Step 6 — Complex issues escalate to human agent via Omnichannel</a:t>
      </a:r>
    </a:p>

  </p:txBody>
</p:sp>
    </p:spTree>
  </p:cSld>
  <p:clrMapOvr><a:masterClrMapping/>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Slide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7432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" sz="3600" b="1">
                <a:solidFill>
                  <a:srgbClr val="E8B923"/>
                </a:solidFill>
                <a:latin typeface="Roboto"/>
              </a:rPr>
              <a:t>Business Benefits</a:t>
            </a:r>
          </a:p>
        </p:txBody>
      </p:sp>
      <p:sp>
        <p:nvSpPr>
          <p:cNvPr id="3" name="Line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txBody>
          <a:bodyPr/>
          <a:lstStyle/>
        </p:txBody>
      </p:sp>
      <p:sp>
        <p:nvSpPr>
          <p:cNvPr id="4" name="Body"/>
          <p:cNvSpPr txBox="1"/>
          <p:nvPr/>
        </p:nvSpPr>
        <p:spPr>
          <a:xfrm>
            <a:off x="365760" y="1188720"/>
            <a:ext cx="8138160" cy="320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Reduce dispute resolution from 5-10 days to under 2 minutes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Eliminate 70% of call centre load with AI-driven automation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Personalised, multilingual (English + Hindi) 24×7 support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Unified banking ecosystem on single Salesforce platform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Slide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7432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" sz="3600" b="1">
                <a:solidFill>
                  <a:srgbClr val="E8B923"/>
                </a:solidFill>
                <a:latin typeface="Roboto"/>
              </a:rPr>
              <a:t>Demo Story: Before</a:t>
            </a:r>
          </a:p>
        </p:txBody>
      </p:sp>
      <p:sp>
        <p:nvSpPr>
          <p:cNvPr id="3" name="Line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txBody>
          <a:bodyPr/>
          <a:lstStyle/>
        </p:txBody>
      </p:sp>
      <p:sp>
        <p:nvSpPr>
          <p:cNvPr id="4" name="Body"/>
          <p:cNvSpPr txBox="1"/>
          <p:nvPr/>
        </p:nvSpPr>
        <p:spPr>
          <a:xfrm>
            <a:off x="365760" y="1188720"/>
            <a:ext cx="8138160" cy="320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Customer Rahul notices fraudulent Rs 4,500 debit on credit card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Calls bank → waits 25 minutes → IVR cannot understand → transferred 3 times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Asked to visit branch with physical documents → fills paper form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Told resolution takes 7-10 days → no visibility → considers switching banks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Slide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365760" y="274320"/>
            <a:ext cx="8138160" cy="685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/>
            <a:r>
              <a:rPr lang="en" sz="3600" b="1">
                <a:solidFill>
                  <a:srgbClr val="E8B923"/>
                </a:solidFill>
                <a:latin typeface="Roboto"/>
              </a:rPr>
              <a:t>Demo Story: After</a:t>
            </a:r>
          </a:p>
        </p:txBody>
      </p:sp>
      <p:sp>
        <p:nvSpPr>
          <p:cNvPr id="3" name="Line"/>
          <p:cNvSpPr/>
          <p:nvPr/>
        </p:nvSpPr>
        <p:spPr>
          <a:xfrm>
            <a:off x="365760" y="1051560"/>
            <a:ext cx="2286000" cy="36576"/>
          </a:xfrm>
          <a:prstGeom prst="rect">
            <a:avLst/>
          </a:prstGeom>
          <a:solidFill>
            <a:srgbClr val="E8B923"/>
          </a:solidFill>
          <a:ln>
            <a:noFill/>
          </a:ln>
        </p:spPr>
        <p:txBody>
          <a:bodyPr/>
          <a:lstStyle/>
        </p:txBody>
      </p:sp>
      <p:sp>
        <p:nvSpPr>
          <p:cNvPr id="4" name="Body"/>
          <p:cNvSpPr txBox="1"/>
          <p:nvPr/>
        </p:nvSpPr>
        <p:spPr>
          <a:xfrm>
            <a:off x="365760" y="1188720"/>
            <a:ext cx="8138160" cy="3200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Rahul opens Bharat AI Bank chat → 'I want to dispute a transaction'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AI agent asks for receipt → uploads PDF → Document AI extracts Rs 4,500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Dispute filed in Salesforce in 90 seconds</a:t>
            </a:r>
          </a:p>
          <a:p>
            <a:pPr algn="l" marL="182880" indent="-182880">
              <a:spcBef>
                <a:spcPts val="300"/>
              </a:spcBef>
              <a:buFont typeface="Roboto"/>
              <a:buChar char="•"/>
            </a:pPr>
            <a:r>
              <a:rPr lang="en" sz="2000">
                <a:solidFill>
                  <a:srgbClr val="FFFFFF"/>
                </a:solidFill>
                <a:latin typeface="Roboto"/>
              </a:rPr>
              <a:t>Agent responds in Hindi when requested, full audit trail, zero manual effort</a:t>
            </a:r>
          </a:p>
        </p:txBody>
      </p:sp>
    </p:spTree>
  </p:cSld>
  <p:clrMapOvr>
    <a:masterClrMapping/>
  </p:clrMapOvr>
</p:sld>
</file>

<file path=ppt/slides/slide11.xml><?xml version="1.0" encoding="UTF-8" standalone="yes"?>
<p:sld xmlns:a="http://schemas.openxmlformats.org/drawingml/2006/main" xmlns:r="http://schemas.openxmlformats.org/officeDocument/2006/relationships" xmlns:p="http://schemas.openxmlformats.org/presentationml/2006/main">
  <p:cSld>
    <p:bg><p:bgPr><a:solidFill><a:srgbClr val="1A3A52"/></a:solidFill><a:effectLst/></p:bgPr></p:bg>
    <p:spTree>
      <p:nvGrpSpPr><p:cNvPr id="1" name="Slide11"/><p:cNvGrpSpPr/><p:nvPr/></p:nvGrpSpPr>
      <p:grpSpPr><a:xfrm><a:off x="0" y="0"/><a:ext cx="0" cy="0"/><a:chOff x="0" y="0"/><a:chExt cx="0" cy="0"/></a:xfrm></p:grpSpPr>
      <p:sp>
  <p:nvSpPr>
    <p:cNvPr id="2" name="Title"/>
    <p:cNvSpPr txBox="1"/><p:nvPr/>
  </p:nvSpPr>
  <p:spPr>
    <a:xfrm><a:off x="365760" y="274320"/><a:ext cx="8138160" cy="685800"/></a:xfrm>
    <a:prstGeom prst="rect"><a:avLst/></a:prstGeom>
    <a:noFill/><a:ln><a:noFill/></a:ln>
  </p:spPr>
  <p:txBody>
    <a:bodyPr/><a:lstStyle/>
    <a:p>
      <a:pPr algn="l"/>
      <a:r>
        <a:rPr lang="en" sz="3600" b="1">
          <a:solidFill><a:srgbClr val="E8B923"/></a:solidFill>
          <a:latin typeface="Roboto"/>
        </a:rPr>
        <a:t>Demo Outcome</a:t>
      </a:r>
    </a:p>
  </p:txBody>
</p:sp>

<p:sp>
  <p:nvSpPr>
    <p:cNvPr id="3" name="Line"/>
    <p:cNvSpPr/><p:nvPr/>
  </p:nvSpPr>
  <p:spPr>
    <a:xfrm><a:off x="365760" y="1051560"/><a:ext cx="2286000" cy="36576"/></a:xfrm>
    <a:prstGeom prst="rect"><a:avLst/></a:prstGeom>
    <a:solidFill><a:srgbClr val="E8B923"/></a:solidFill>
    <a:ln><a:noFill/></a:ln>
  </p:spPr>
  <p:txBody><a:bodyPr/><a:lstStyle/></p:txBody>
</p:sp>

<p:sp>
  <p:nvSpPr>
    <p:cNvPr id="4" name="Body"/>
    <p:cNvSpPr txBox="1"/><p:nvPr/>
  </p:nvSpPr>
  <p:spPr>
    <a:xfrm><a:off x="365760" y="1188720"/><a:ext cx="8138160" cy="3200400"/></a:xfrm>
    <a:prstGeom prst="rect"><a:avLst/></a:prstGeom>
    <a:noFill/><a:ln><a:noFill/></a:ln>
  </p:spPr>
  <p:txBody>
    <a:bodyPr/><a:lstStyle/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Dispute resolved in under 2 minutes (vs 7-10 days traditional)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Zero branch visit required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AI agent handled entirely in Hindi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KYC verified & approved in same session</a:t>
      </a:r>
    </a:p>

    <a:p>
      <a:pPr algn="l" marL="182880" indent="-182880">
        <a:spcBef><a:spcPts val="300"/></a:spcBef>
        <a:buFont typeface="Roboto"/>
        <a:buChar char="•"/>
      </a:pPr>
      <a:r>
        <a:rPr lang="en" sz="2000">
          <a:solidFill><a:srgbClr val="FFFFFF"/></a:solidFill>
          <a:latin typeface="Roboto"/>
        </a:rPr>
        <a:t>Customer satisfaction: instant, transparent, effortless</a:t>
      </a:r>
    </a:p>

  </p:txBody>
</p:sp>
    </p:spTree>
  </p:cSld>
  <p:clrMapOvr><a:masterClrMapping/>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2"/>
        </a:solidFill>
        <a:effectLst/>
      </p:bgPr>
    </p:bg>
    <p:spTree>
      <p:nvGrpSpPr>
        <p:cNvPr id="1" name="Slide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1371600"/>
            <a:ext cx="8046720" cy="82296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" sz="4800" b="1">
                <a:solidFill>
                  <a:srgbClr val="E8B923"/>
                </a:solidFill>
                <a:latin typeface="Roboto"/>
              </a:rPr>
              <a:t>Thank You!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2560320"/>
            <a:ext cx="8046720" cy="164592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pPr algn="ctr"/>
            <a:r>
              <a:rPr lang="en" sz="2200">
                <a:solidFill>
                  <a:srgbClr val="FFFFFF"/>
                </a:solidFill>
                <a:latin typeface="Roboto"/>
              </a:rPr>
              <a:t>Team AgentX Innovators | Accenture | 2025</a:t>
            </a:r>
          </a:p>
          <a:p>
            <a:pPr algn="ctr"/>
            <a:r>
              <a:rPr lang="en" sz="1900">
                <a:solidFill>
                  <a:srgbClr val="4A90E2"/>
                </a:solidFill>
                <a:latin typeface="Roboto"/>
              </a:rPr>
              <a:t>Princy Shah • Shraddha Dere • Ankur Omar • Ravi Kamal</a:t>
            </a:r>
          </a:p>
          <a:p>
            <a:pPr algn="ctr"/>
            <a:r>
              <a:rPr lang="en" sz="1700">
                <a:solidFill>
                  <a:srgbClr val="FFFFFF"/>
                </a:solidFill>
                <a:latin typeface="Roboto"/>
              </a:rPr>
              <a:t>GitHub: github.com/princy2806/Bharat-AI-Bank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